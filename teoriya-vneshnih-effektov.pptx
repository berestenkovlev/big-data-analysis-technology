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9144000"/>
  <p:notesSz cx="6858000" cy="9144000"/>
  <p:embeddedFontLs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CenturyGothic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Титульный слайд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" type="subTitle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"/>
          <p:cNvSpPr/>
          <p:nvPr/>
        </p:nvSpPr>
        <p:spPr>
          <a:xfrm>
            <a:off x="-31719" y="4321158"/>
            <a:ext cx="1395473" cy="781781"/>
          </a:xfrm>
          <a:custGeom>
            <a:rect b="b" l="l" r="r" t="t"/>
            <a:pathLst>
              <a:path extrusionOk="0" h="10000" w="8042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423334" y="4529541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Заголовок и объект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Пустой слай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Заголовок раздела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1942415" y="2074562"/>
            <a:ext cx="659198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body"/>
          </p:nvPr>
        </p:nvSpPr>
        <p:spPr>
          <a:xfrm>
            <a:off x="1942415" y="3581400"/>
            <a:ext cx="659198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Два объекта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1942416" y="2136706"/>
            <a:ext cx="3197531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2" type="body"/>
          </p:nvPr>
        </p:nvSpPr>
        <p:spPr>
          <a:xfrm>
            <a:off x="5337307" y="2136706"/>
            <a:ext cx="3197093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Сравнение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2265352" y="2226626"/>
            <a:ext cx="287459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7"/>
          <p:cNvSpPr txBox="1"/>
          <p:nvPr>
            <p:ph idx="2" type="body"/>
          </p:nvPr>
        </p:nvSpPr>
        <p:spPr>
          <a:xfrm>
            <a:off x="1942415" y="2802888"/>
            <a:ext cx="3197532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3" type="body"/>
          </p:nvPr>
        </p:nvSpPr>
        <p:spPr>
          <a:xfrm>
            <a:off x="5656154" y="2223398"/>
            <a:ext cx="28732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7"/>
          <p:cNvSpPr txBox="1"/>
          <p:nvPr>
            <p:ph idx="4" type="body"/>
          </p:nvPr>
        </p:nvSpPr>
        <p:spPr>
          <a:xfrm>
            <a:off x="5333715" y="2799660"/>
            <a:ext cx="3195680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Только заголовок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Объект с подписью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942415" y="446088"/>
            <a:ext cx="2629584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4743494" y="446089"/>
            <a:ext cx="3790906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2" type="body"/>
          </p:nvPr>
        </p:nvSpPr>
        <p:spPr>
          <a:xfrm>
            <a:off x="1942415" y="1598613"/>
            <a:ext cx="2629584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9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Рисунок с подписью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1942415" y="4800600"/>
            <a:ext cx="659198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/>
          <p:nvPr>
            <p:ph idx="2" type="pic"/>
          </p:nvPr>
        </p:nvSpPr>
        <p:spPr>
          <a:xfrm>
            <a:off x="1942415" y="634965"/>
            <a:ext cx="6591985" cy="3854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1942415" y="5367338"/>
            <a:ext cx="6591985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Заголовок и подпись">
  <p:cSld name="Заголовок и подпись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1942415" y="609600"/>
            <a:ext cx="6591985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Цитата с подписью">
  <p:cSld name="Цитата с подписью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body"/>
          </p:nvPr>
        </p:nvSpPr>
        <p:spPr>
          <a:xfrm>
            <a:off x="2415972" y="3505200"/>
            <a:ext cx="56538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/>
          <p:nvPr/>
        </p:nvSpPr>
        <p:spPr>
          <a:xfrm flipH="1" rot="10800000">
            <a:off x="58" y="3166527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12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Карточка имени">
  <p:cSld name="Карточка имени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1942415" y="2438401"/>
            <a:ext cx="6591985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Цитата карточки имени">
  <p:cSld name="Цитата карточки имени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942415" y="4343400"/>
            <a:ext cx="66882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1942415" y="5181600"/>
            <a:ext cx="6688292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Истина или ложь">
  <p:cSld name="Истина или ложь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1942416" y="627407"/>
            <a:ext cx="6591984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1942415" y="4343400"/>
            <a:ext cx="659198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2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/>
          <p:nvPr/>
        </p:nvSpPr>
        <p:spPr>
          <a:xfrm flipH="1" rot="10800000">
            <a:off x="58" y="4910660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Заголовок и вертикальный текст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 rot="5400000">
            <a:off x="3295307" y="780708"/>
            <a:ext cx="3886200" cy="6591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Вертикальный заголовок и текст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 rot="5400000">
            <a:off x="5064693" y="2441249"/>
            <a:ext cx="5283817" cy="16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 rot="5400000">
            <a:off x="1658682" y="911140"/>
            <a:ext cx="5283817" cy="471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/>
          <p:nvPr/>
        </p:nvSpPr>
        <p:spPr>
          <a:xfrm flipH="1" rot="10800000">
            <a:off x="58" y="711194"/>
            <a:ext cx="1358356" cy="508005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FFFF"/>
            </a:gs>
            <a:gs pos="100000">
              <a:srgbClr val="C4DCE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7" name="Google Shape;7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1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20" name="Google Shape;20;p1"/>
            <p:cNvSpPr/>
            <p:nvPr/>
          </p:nvSpPr>
          <p:spPr>
            <a:xfrm>
              <a:off x="6627813" y="196102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14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" type="body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1"/>
          <p:cNvSpPr txBox="1"/>
          <p:nvPr>
            <p:ph idx="10" type="dt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1"/>
          <p:cNvSpPr txBox="1"/>
          <p:nvPr>
            <p:ph idx="11" type="ftr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1"/>
          <p:cNvSpPr txBox="1"/>
          <p:nvPr>
            <p:ph idx="12" type="sldNum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ctrTitle"/>
          </p:nvPr>
        </p:nvSpPr>
        <p:spPr>
          <a:xfrm>
            <a:off x="2354310" y="247136"/>
            <a:ext cx="5941194" cy="3442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81AA"/>
              </a:buClr>
              <a:buSzPts val="8000"/>
              <a:buFont typeface="Century Gothic"/>
              <a:buNone/>
            </a:pPr>
            <a:r>
              <a:rPr b="1" lang="ru-RU" sz="8000"/>
              <a:t>Теория внешних эффектов</a:t>
            </a:r>
            <a:endParaRPr sz="8000"/>
          </a:p>
        </p:txBody>
      </p:sp>
      <p:sp>
        <p:nvSpPr>
          <p:cNvPr id="165" name="Google Shape;165;p18"/>
          <p:cNvSpPr txBox="1"/>
          <p:nvPr>
            <p:ph idx="1" type="subTitle"/>
          </p:nvPr>
        </p:nvSpPr>
        <p:spPr>
          <a:xfrm>
            <a:off x="1612731" y="3901615"/>
            <a:ext cx="7424351" cy="2894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spcBef>
                <a:spcPts val="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Частные и социальные издержки и выгоды</a:t>
            </a:r>
            <a:endParaRPr sz="2000">
              <a:solidFill>
                <a:schemeClr val="dk1"/>
              </a:solidFill>
            </a:endParaRPr>
          </a:p>
          <a:p>
            <a:pPr indent="-228600" lvl="0" marL="228600" rtl="0" algn="just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Положительные и отрицательные внешние эффекты</a:t>
            </a:r>
            <a:endParaRPr b="1" sz="2000">
              <a:solidFill>
                <a:schemeClr val="dk1"/>
              </a:solidFill>
            </a:endParaRPr>
          </a:p>
          <a:p>
            <a:pPr indent="-228600" lvl="0" marL="228600" rtl="0" algn="just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Интернализация внешних эффектов. Теорема Коуза</a:t>
            </a:r>
            <a:endParaRPr b="1" sz="2000">
              <a:solidFill>
                <a:schemeClr val="dk1"/>
              </a:solidFill>
            </a:endParaRPr>
          </a:p>
          <a:p>
            <a:pPr indent="-228600" lvl="0" marL="228600" rtl="0" algn="just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ru-RU" sz="2000">
                <a:solidFill>
                  <a:schemeClr val="dk1"/>
                </a:solidFill>
              </a:rPr>
              <a:t>Государство и внешние эффекты: административное регулирование; корректирующие налоги и субсидии; рынок прав на загрязнение окружающей среды.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2042984" y="260648"/>
            <a:ext cx="6921504" cy="6240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РЕКОМЕНДУЕМАЯ ЛИТЕРАТУРА </a:t>
            </a:r>
            <a:endParaRPr/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ru-RU" sz="2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Нуреев, Р. М. Курс микроэкономики: Учебник для вузов. — 2-е изд., изм. — М.: Издательство НОРМА, 2005. — 576 с. </a:t>
            </a:r>
            <a:endParaRPr/>
          </a:p>
          <a:p>
            <a:pPr indent="0" lvl="0" marL="0" marR="0" rtl="0" algn="just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ru-RU" sz="2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Пиндайк Р., Рабинфельд Д. Микроэкономика: Учебник для вузов. 5-е изд. / Пер. с англ. — СПб.: Питер, 2012. — 608 с: ил. (Серия ≪Учебники для вузов≫).</a:t>
            </a:r>
            <a:endParaRPr/>
          </a:p>
          <a:p>
            <a:pPr indent="0" lvl="0" marL="0" marR="0" rtl="0" algn="just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ru-RU" sz="2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Микроэкономика: учебное пособие для студентов экон. спец. вузов / [А.В. Бондарь и др.]; под ред. А.В. Бондаря, В.А. Воробьева. — 2-е изд. — Минск: БГЭУ, 2009. — 415 с.</a:t>
            </a:r>
            <a:endParaRPr/>
          </a:p>
          <a:p>
            <a:pPr indent="0" lvl="0" marL="0" marR="0" rtl="0" algn="just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ru-RU" sz="2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Тарануха, Ю.В. Микроэкономика: учебник по специальности «Менеджмент организации» / Ю. В. Тарануха, Д.Н. Земляков. — Москва: КноРус, 2010. — 318 с.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2653656" y="1604413"/>
            <a:ext cx="5518280" cy="3997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3DDF3"/>
              </a:buClr>
              <a:buSzPts val="6000"/>
              <a:buFont typeface="Century Gothic"/>
              <a:buNone/>
            </a:pPr>
            <a:r>
              <a:rPr b="1" lang="ru-RU" sz="6000">
                <a:solidFill>
                  <a:srgbClr val="A3DDF3"/>
                </a:solidFill>
              </a:rPr>
              <a:t>Частные и социальные издержки и выгоды</a:t>
            </a:r>
            <a:endParaRPr b="1" sz="6000">
              <a:solidFill>
                <a:srgbClr val="A3DD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243016" y="148626"/>
            <a:ext cx="8785654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Внешние эффекты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— это не учтенные в цене блага побочные эффекты функционирования рынка, воздействующие на третьих лиц (или общество в целом), находящихся вне рыночной сделки.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Частные издержки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(РС) — это затраты участников рыночной операции, связанные с непосредственным производством блага. Включаемые в рыночную цену блага, они носят внутренний характер.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152399" y="6038506"/>
            <a:ext cx="47903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517482"/>
                </a:solidFill>
                <a:latin typeface="Arial"/>
                <a:ea typeface="Arial"/>
                <a:cs typeface="Arial"/>
                <a:sym typeface="Arial"/>
              </a:rPr>
              <a:t>Рис 1. </a:t>
            </a:r>
            <a:r>
              <a:rPr b="0" i="0" lang="ru-RU" sz="1800" u="none" cap="none" strike="noStrike">
                <a:solidFill>
                  <a:srgbClr val="517482"/>
                </a:solidFill>
                <a:latin typeface="Arial"/>
                <a:ea typeface="Arial"/>
                <a:cs typeface="Arial"/>
                <a:sym typeface="Arial"/>
              </a:rPr>
              <a:t>Внешние, частные и общественные издержки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850142" y="2184007"/>
            <a:ext cx="4178528" cy="357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Внешние издержки 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(ЕС) — это затраты лиц, вызванные производством и потреблением данного блага, не принимающих участия в данной рыночной сделке. Не отражаясь в цене блага, они имеют внешний по отношению к ней характер.</a:t>
            </a:r>
            <a:endParaRPr/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Общественные издержки 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(SC) </a:t>
            </a: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‒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собой совокупные затраты участников рыночной сделки и третьих лиц: SC= PC+ EC</a:t>
            </a:r>
            <a:endParaRPr/>
          </a:p>
        </p:txBody>
      </p:sp>
      <p:cxnSp>
        <p:nvCxnSpPr>
          <p:cNvPr id="183" name="Google Shape;183;p21"/>
          <p:cNvCxnSpPr/>
          <p:nvPr/>
        </p:nvCxnSpPr>
        <p:spPr>
          <a:xfrm>
            <a:off x="243016" y="5453449"/>
            <a:ext cx="4015946" cy="16475"/>
          </a:xfrm>
          <a:prstGeom prst="straightConnector1">
            <a:avLst/>
          </a:prstGeom>
          <a:noFill/>
          <a:ln cap="flat" cmpd="sng" w="38100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21"/>
          <p:cNvCxnSpPr/>
          <p:nvPr/>
        </p:nvCxnSpPr>
        <p:spPr>
          <a:xfrm rot="10800000">
            <a:off x="243016" y="2405449"/>
            <a:ext cx="0" cy="3064475"/>
          </a:xfrm>
          <a:prstGeom prst="straightConnector1">
            <a:avLst/>
          </a:prstGeom>
          <a:noFill/>
          <a:ln cap="flat" cmpd="sng" w="38100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21"/>
          <p:cNvCxnSpPr/>
          <p:nvPr/>
        </p:nvCxnSpPr>
        <p:spPr>
          <a:xfrm flipH="1" rot="10800000">
            <a:off x="262517" y="4279254"/>
            <a:ext cx="3859427" cy="1145059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21"/>
          <p:cNvSpPr/>
          <p:nvPr/>
        </p:nvSpPr>
        <p:spPr>
          <a:xfrm rot="-914594">
            <a:off x="-797761" y="2818224"/>
            <a:ext cx="4031914" cy="1359492"/>
          </a:xfrm>
          <a:prstGeom prst="arc">
            <a:avLst>
              <a:gd fmla="val 206018" name="adj1"/>
              <a:gd fmla="val 9208114" name="adj2"/>
            </a:avLst>
          </a:prstGeom>
          <a:noFill/>
          <a:ln cap="flat" cmpd="sng" w="762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21"/>
          <p:cNvSpPr/>
          <p:nvPr/>
        </p:nvSpPr>
        <p:spPr>
          <a:xfrm rot="-1580023">
            <a:off x="-1016207" y="2553327"/>
            <a:ext cx="4159350" cy="1439806"/>
          </a:xfrm>
          <a:prstGeom prst="arc">
            <a:avLst>
              <a:gd fmla="val 206018" name="adj1"/>
              <a:gd fmla="val 9208114" name="adj2"/>
            </a:avLst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3246674" y="2932670"/>
            <a:ext cx="6580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3830690" y="3937686"/>
            <a:ext cx="5307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993557" y="2504303"/>
            <a:ext cx="6343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38289" y="2312108"/>
            <a:ext cx="4887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57201" y="5651157"/>
            <a:ext cx="1556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2"/>
          <p:cNvCxnSpPr/>
          <p:nvPr/>
        </p:nvCxnSpPr>
        <p:spPr>
          <a:xfrm flipH="1" rot="10800000">
            <a:off x="2100649" y="3649362"/>
            <a:ext cx="4300151" cy="1638666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22"/>
          <p:cNvCxnSpPr/>
          <p:nvPr/>
        </p:nvCxnSpPr>
        <p:spPr>
          <a:xfrm flipH="1" rot="10800000">
            <a:off x="2113005" y="4529481"/>
            <a:ext cx="4485503" cy="1517092"/>
          </a:xfrm>
          <a:prstGeom prst="straightConnector1">
            <a:avLst/>
          </a:prstGeom>
          <a:noFill/>
          <a:ln cap="flat" cmpd="sng" w="762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22"/>
          <p:cNvSpPr/>
          <p:nvPr/>
        </p:nvSpPr>
        <p:spPr>
          <a:xfrm>
            <a:off x="61784" y="0"/>
            <a:ext cx="8975124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Изменения каждого вида издержек в виде их прироста, вызванного увеличением производства блага (ΔQ), представляют собой</a:t>
            </a: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предельные частные издержки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(МРС=ΔРС/ΔQ),</a:t>
            </a: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предельные внешние издержки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(МЕС=ΔЕС/ΔQ) и </a:t>
            </a: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предельные общественные издержки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(MSC=ΔSC/ΔQ). Данные предельные издержки определяются как производные функций соответствующих издержек.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Предельные общественные издержки так же равны сумме предельных частных издержек и предельных внешних издержек, т.е. MSC = MPC+ MEC.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0" name="Google Shape;200;p22"/>
          <p:cNvCxnSpPr/>
          <p:nvPr/>
        </p:nvCxnSpPr>
        <p:spPr>
          <a:xfrm>
            <a:off x="2100649" y="6046573"/>
            <a:ext cx="4423719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22"/>
          <p:cNvCxnSpPr/>
          <p:nvPr/>
        </p:nvCxnSpPr>
        <p:spPr>
          <a:xfrm flipH="1" rot="10800000">
            <a:off x="2100649" y="2809103"/>
            <a:ext cx="24713" cy="323747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22"/>
          <p:cNvCxnSpPr/>
          <p:nvPr/>
        </p:nvCxnSpPr>
        <p:spPr>
          <a:xfrm>
            <a:off x="2092411" y="5296930"/>
            <a:ext cx="4423719" cy="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4539049" y="4382529"/>
            <a:ext cx="131807" cy="78259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1569308" y="2625692"/>
            <a:ext cx="523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5966254" y="3219968"/>
            <a:ext cx="8690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939481" y="4158523"/>
            <a:ext cx="11121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MPC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5966254" y="4919509"/>
            <a:ext cx="1136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4736757" y="4578223"/>
            <a:ext cx="7249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2092411" y="6178378"/>
            <a:ext cx="6013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131805" y="6436601"/>
            <a:ext cx="8905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Рис. 2.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Предельные внешние, частные и общественные издержки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3"/>
          <p:cNvCxnSpPr/>
          <p:nvPr/>
        </p:nvCxnSpPr>
        <p:spPr>
          <a:xfrm flipH="1" rot="10800000">
            <a:off x="2051222" y="4621427"/>
            <a:ext cx="4967416" cy="1342768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3"/>
          <p:cNvSpPr/>
          <p:nvPr/>
        </p:nvSpPr>
        <p:spPr>
          <a:xfrm>
            <a:off x="-20596" y="31269"/>
            <a:ext cx="9201665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Частная выгода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(РВ) — это увеличение благосостояния потребителя данного блага.</a:t>
            </a:r>
            <a:endParaRPr/>
          </a:p>
          <a:p>
            <a:pPr indent="45720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Внешняя выгода 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(ЕВ) — это рост благосостояния третьих лиц, вызванный производством и потреблением этого блага.</a:t>
            </a:r>
            <a:endParaRPr/>
          </a:p>
          <a:p>
            <a:pPr indent="45720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Общественная выгода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(SB) представляет собой совокупную выгоду всех лиц, которых затрагивает производство и потребление данного блага: SB= PB+ EB </a:t>
            </a:r>
            <a:endParaRPr b="0" i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90617" y="6438522"/>
            <a:ext cx="89792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Рис. 3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Внешние, частные и общественные выгоды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18" name="Google Shape;218;p23"/>
          <p:cNvCxnSpPr/>
          <p:nvPr/>
        </p:nvCxnSpPr>
        <p:spPr>
          <a:xfrm>
            <a:off x="2051222" y="5964195"/>
            <a:ext cx="4967416" cy="823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23"/>
          <p:cNvSpPr/>
          <p:nvPr/>
        </p:nvSpPr>
        <p:spPr>
          <a:xfrm rot="-866656">
            <a:off x="1954708" y="2342421"/>
            <a:ext cx="9164933" cy="3462380"/>
          </a:xfrm>
          <a:prstGeom prst="arc">
            <a:avLst>
              <a:gd fmla="val 10840533" name="adj1"/>
              <a:gd fmla="val 17238130" name="adj2"/>
            </a:avLst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p23"/>
          <p:cNvSpPr/>
          <p:nvPr/>
        </p:nvSpPr>
        <p:spPr>
          <a:xfrm rot="-425382">
            <a:off x="2030226" y="3025544"/>
            <a:ext cx="9197885" cy="3462380"/>
          </a:xfrm>
          <a:prstGeom prst="arc">
            <a:avLst>
              <a:gd fmla="val 10911988" name="adj1"/>
              <a:gd fmla="val 17238130" name="adj2"/>
            </a:avLst>
          </a:prstGeom>
          <a:noFill/>
          <a:ln cap="flat" cmpd="sng" w="762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1" name="Google Shape;221;p23"/>
          <p:cNvCxnSpPr/>
          <p:nvPr/>
        </p:nvCxnSpPr>
        <p:spPr>
          <a:xfrm flipH="1" rot="10800000">
            <a:off x="2059459" y="2183027"/>
            <a:ext cx="16476" cy="3781168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23"/>
          <p:cNvSpPr txBox="1"/>
          <p:nvPr/>
        </p:nvSpPr>
        <p:spPr>
          <a:xfrm>
            <a:off x="6579741" y="2166112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6845643" y="2969055"/>
            <a:ext cx="556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6940819" y="4621427"/>
            <a:ext cx="523615" cy="37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1667730" y="2088351"/>
            <a:ext cx="3834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755125" y="5916664"/>
            <a:ext cx="408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144162" y="116524"/>
            <a:ext cx="881860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Вызванный увеличением производства и потребления блага прирост каждого вида выгод отражается в категориях: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предельной частной выгоды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МРВ=ΔРВ/ΔQ;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предельной внешней выгоды: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МЕВ=ΔEB/ΔQ;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предельной общественной выгоды:</a:t>
            </a: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MSB =ΔSB/ΔQ.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74141" y="6186295"/>
            <a:ext cx="88886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Рис. 4.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Предельные внешние, предельные частные и предельные общественные выгоды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3" name="Google Shape;233;p24"/>
          <p:cNvCxnSpPr/>
          <p:nvPr/>
        </p:nvCxnSpPr>
        <p:spPr>
          <a:xfrm>
            <a:off x="1293341" y="3896497"/>
            <a:ext cx="3542270" cy="1631092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24"/>
          <p:cNvCxnSpPr/>
          <p:nvPr/>
        </p:nvCxnSpPr>
        <p:spPr>
          <a:xfrm>
            <a:off x="1293341" y="2660822"/>
            <a:ext cx="5964194" cy="2866767"/>
          </a:xfrm>
          <a:prstGeom prst="straightConnector1">
            <a:avLst/>
          </a:prstGeom>
          <a:noFill/>
          <a:ln cap="flat" cmpd="sng" w="762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24"/>
          <p:cNvSpPr/>
          <p:nvPr/>
        </p:nvSpPr>
        <p:spPr>
          <a:xfrm>
            <a:off x="2199504" y="3087818"/>
            <a:ext cx="341870" cy="124391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864973" y="1696995"/>
            <a:ext cx="214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2504305" y="3540732"/>
            <a:ext cx="8979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4843849" y="3962400"/>
            <a:ext cx="889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6582032" y="4135395"/>
            <a:ext cx="9803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4703805" y="5123935"/>
            <a:ext cx="9638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MPB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1136822" y="5436973"/>
            <a:ext cx="4530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42" name="Google Shape;242;p24"/>
          <p:cNvCxnSpPr/>
          <p:nvPr/>
        </p:nvCxnSpPr>
        <p:spPr>
          <a:xfrm flipH="1" rot="10800000">
            <a:off x="1301578" y="4547286"/>
            <a:ext cx="5955957" cy="4119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4"/>
          <p:cNvCxnSpPr/>
          <p:nvPr/>
        </p:nvCxnSpPr>
        <p:spPr>
          <a:xfrm flipH="1" rot="10800000">
            <a:off x="1301578" y="5527589"/>
            <a:ext cx="6466703" cy="82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24"/>
          <p:cNvCxnSpPr/>
          <p:nvPr/>
        </p:nvCxnSpPr>
        <p:spPr>
          <a:xfrm rot="10800000">
            <a:off x="1276865" y="1593852"/>
            <a:ext cx="16476" cy="398316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title"/>
          </p:nvPr>
        </p:nvSpPr>
        <p:spPr>
          <a:xfrm>
            <a:off x="2084172" y="1316088"/>
            <a:ext cx="7059827" cy="5274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3DDF3"/>
              </a:buClr>
              <a:buSzPts val="6000"/>
              <a:buFont typeface="Century Gothic"/>
              <a:buNone/>
            </a:pPr>
            <a:r>
              <a:rPr b="1" lang="ru-RU" sz="6000">
                <a:solidFill>
                  <a:srgbClr val="A3DDF3"/>
                </a:solidFill>
              </a:rPr>
              <a:t>Положительные и отрицательные внешние эффекты</a:t>
            </a:r>
            <a:endParaRPr b="1" sz="6000">
              <a:solidFill>
                <a:srgbClr val="A3DD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/>
          <p:nvPr/>
        </p:nvSpPr>
        <p:spPr>
          <a:xfrm>
            <a:off x="107092" y="260648"/>
            <a:ext cx="8857396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Отрицательный внешний эффект </a:t>
            </a:r>
            <a:r>
              <a:rPr b="1"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(negative externality) возникает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случае, если деятельность одного экономического агента вызывает издержки других.</a:t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наличии отрицательного внешнего эффекта </a:t>
            </a:r>
            <a:r>
              <a:rPr b="1"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экономическое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благо продается и покупается в большем по сравнению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эффективным объеме, т. е. имеет место перепроизводство товаров и услуг с отрицательными внешними эффектами.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Положительный внешний эффект (positive </a:t>
            </a:r>
            <a:r>
              <a:rPr b="1"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externality) возникает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случае, если деятельность одного экономического агента приносит выгоды другим.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MSB = МРВ + МЕВ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где </a:t>
            </a: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MSB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предельные общественные выгоды (marginal social benefit);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МРВ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предельные частные выгоды (marginal private benefit);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МЕВ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предельные внешние выгоды (marginal external benefit).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27"/>
          <p:cNvCxnSpPr>
            <a:stCxn id="260" idx="4"/>
          </p:cNvCxnSpPr>
          <p:nvPr/>
        </p:nvCxnSpPr>
        <p:spPr>
          <a:xfrm flipH="1">
            <a:off x="4428113" y="2132853"/>
            <a:ext cx="30000" cy="309630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1" name="Google Shape;261;p2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 rot="-5400000">
            <a:off x="3434936" y="2333813"/>
            <a:ext cx="1224138" cy="822217"/>
          </a:xfrm>
          <a:prstGeom prst="triangle">
            <a:avLst>
              <a:gd fmla="val 50000" name="adj"/>
            </a:avLst>
          </a:prstGeom>
          <a:solidFill>
            <a:srgbClr val="F183D8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62" name="Google Shape;262;p27"/>
          <p:cNvCxnSpPr/>
          <p:nvPr/>
        </p:nvCxnSpPr>
        <p:spPr>
          <a:xfrm>
            <a:off x="1619672" y="1124744"/>
            <a:ext cx="4392488" cy="3456384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27"/>
          <p:cNvCxnSpPr/>
          <p:nvPr/>
        </p:nvCxnSpPr>
        <p:spPr>
          <a:xfrm>
            <a:off x="1403648" y="5229200"/>
            <a:ext cx="5544616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4" name="Google Shape;264;p27"/>
          <p:cNvCxnSpPr/>
          <p:nvPr/>
        </p:nvCxnSpPr>
        <p:spPr>
          <a:xfrm rot="10800000">
            <a:off x="1403648" y="332656"/>
            <a:ext cx="0" cy="489654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5" name="Google Shape;265;p27"/>
          <p:cNvCxnSpPr/>
          <p:nvPr/>
        </p:nvCxnSpPr>
        <p:spPr>
          <a:xfrm>
            <a:off x="1403648" y="2780928"/>
            <a:ext cx="2232248" cy="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6" name="Google Shape;266;p27"/>
          <p:cNvCxnSpPr/>
          <p:nvPr/>
        </p:nvCxnSpPr>
        <p:spPr>
          <a:xfrm>
            <a:off x="3635896" y="2708920"/>
            <a:ext cx="0" cy="252028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7" name="Google Shape;267;p27"/>
          <p:cNvCxnSpPr/>
          <p:nvPr/>
        </p:nvCxnSpPr>
        <p:spPr>
          <a:xfrm>
            <a:off x="1403648" y="3429000"/>
            <a:ext cx="5688632" cy="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8" name="Google Shape;268;p27"/>
          <p:cNvCxnSpPr/>
          <p:nvPr/>
        </p:nvCxnSpPr>
        <p:spPr>
          <a:xfrm>
            <a:off x="4427984" y="2132856"/>
            <a:ext cx="2664296" cy="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9" name="Google Shape;269;p27"/>
          <p:cNvSpPr/>
          <p:nvPr/>
        </p:nvSpPr>
        <p:spPr>
          <a:xfrm>
            <a:off x="7092280" y="2132856"/>
            <a:ext cx="216024" cy="129614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3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70" name="Google Shape;270;p27"/>
          <p:cNvCxnSpPr/>
          <p:nvPr/>
        </p:nvCxnSpPr>
        <p:spPr>
          <a:xfrm flipH="1" rot="10800000">
            <a:off x="1907704" y="980728"/>
            <a:ext cx="4032448" cy="3096344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7"/>
          <p:cNvCxnSpPr/>
          <p:nvPr/>
        </p:nvCxnSpPr>
        <p:spPr>
          <a:xfrm flipH="1" rot="10800000">
            <a:off x="2771800" y="1628800"/>
            <a:ext cx="4032448" cy="3096344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7"/>
          <p:cNvCxnSpPr/>
          <p:nvPr/>
        </p:nvCxnSpPr>
        <p:spPr>
          <a:xfrm rot="10800000">
            <a:off x="1187624" y="2852936"/>
            <a:ext cx="0" cy="432048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3" name="Google Shape;273;p27"/>
          <p:cNvCxnSpPr/>
          <p:nvPr/>
        </p:nvCxnSpPr>
        <p:spPr>
          <a:xfrm rot="10800000">
            <a:off x="3779912" y="5445224"/>
            <a:ext cx="50405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4" name="Google Shape;274;p27"/>
          <p:cNvSpPr txBox="1"/>
          <p:nvPr/>
        </p:nvSpPr>
        <p:spPr>
          <a:xfrm>
            <a:off x="5940152" y="692696"/>
            <a:ext cx="2448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MSC=MPC+MEC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6804248" y="1628800"/>
            <a:ext cx="1584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S=MPC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7380312" y="2564904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5868144" y="4149080"/>
            <a:ext cx="1440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D=MSB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27"/>
          <p:cNvSpPr txBox="1"/>
          <p:nvPr/>
        </p:nvSpPr>
        <p:spPr>
          <a:xfrm>
            <a:off x="976724" y="260648"/>
            <a:ext cx="498932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1187624" y="5229200"/>
            <a:ext cx="6120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                              Q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</a:t>
            </a: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Q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1</a:t>
            </a: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        Q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4067944" y="177281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4427984" y="2924944"/>
            <a:ext cx="457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27"/>
          <p:cNvSpPr txBox="1"/>
          <p:nvPr/>
        </p:nvSpPr>
        <p:spPr>
          <a:xfrm>
            <a:off x="3491880" y="2276872"/>
            <a:ext cx="50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1403648" y="5877272"/>
            <a:ext cx="63367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Рис. 5.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Отрицательный внешний эффект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4458114" y="3343746"/>
            <a:ext cx="72007" cy="89899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3635896" y="2673263"/>
            <a:ext cx="72007" cy="89899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/>
          <p:nvPr/>
        </p:nvSpPr>
        <p:spPr>
          <a:xfrm>
            <a:off x="74141" y="116632"/>
            <a:ext cx="8971005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Положительный внешний эффект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возникает при позитивных последствиях воздействия участников рыночной операции на третьих лиц. При этом выигрыш присваивается не владельцем ресурсов, обусловивших возникновение эффекта, а третьими лицами, причем бесплатно. При положительном внешнем эффекте частная предельная выгода блага ниже его общественной предельной выгоды.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наличии положительного внешнего эффекта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экономическое благо продается и покупается в меньшем по сравнению с эффективным объеме, т. е. имеет место недопроизводство товаров и услуг с положительными внешними эффектами</a:t>
            </a: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Трансформация внешних эффектов во внутренние </a:t>
            </a: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(internalization of an externality)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может быть достигнута путем приближения предельных частных издержек (и соответственно выгод) к  предельным социальным издержкам (выгодам).</a:t>
            </a:r>
            <a:endParaRPr/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Корректирующий налог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(corrective </a:t>
            </a: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tax)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 это налог на выпуск экономических благ, характеризующихся отрицательными внешними эффектами, который повышает предельные частные издержки до уровня предельных общественных.</a:t>
            </a:r>
            <a:endParaRPr/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Корректирующая субсидия </a:t>
            </a: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(corrective subsidy)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 это субсидия производителям или потребителям экономических благ, характеризующихся положительными внешними эффектами, которая позволяет приблизить предельные частные выгоды к предельным общественным.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 rot="5400000">
            <a:off x="4427984" y="2276872"/>
            <a:ext cx="1368152" cy="792088"/>
          </a:xfrm>
          <a:prstGeom prst="triangle">
            <a:avLst>
              <a:gd fmla="val 52067" name="adj"/>
            </a:avLst>
          </a:prstGeom>
          <a:solidFill>
            <a:srgbClr val="F183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1331640" y="6093296"/>
            <a:ext cx="75608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Рис. 6. 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Положительный внешний эффект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29"/>
          <p:cNvCxnSpPr/>
          <p:nvPr/>
        </p:nvCxnSpPr>
        <p:spPr>
          <a:xfrm>
            <a:off x="1475656" y="5517232"/>
            <a:ext cx="691276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9" name="Google Shape;299;p29"/>
          <p:cNvCxnSpPr/>
          <p:nvPr/>
        </p:nvCxnSpPr>
        <p:spPr>
          <a:xfrm rot="10800000">
            <a:off x="1475656" y="188640"/>
            <a:ext cx="0" cy="532859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0" name="Google Shape;300;p29"/>
          <p:cNvCxnSpPr>
            <a:stCxn id="295" idx="2"/>
          </p:cNvCxnSpPr>
          <p:nvPr/>
        </p:nvCxnSpPr>
        <p:spPr>
          <a:xfrm>
            <a:off x="4716016" y="1988840"/>
            <a:ext cx="3816300" cy="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1" name="Google Shape;301;p29"/>
          <p:cNvCxnSpPr/>
          <p:nvPr/>
        </p:nvCxnSpPr>
        <p:spPr>
          <a:xfrm>
            <a:off x="1475656" y="3356992"/>
            <a:ext cx="7056784" cy="72008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2" name="Google Shape;302;p29"/>
          <p:cNvCxnSpPr/>
          <p:nvPr/>
        </p:nvCxnSpPr>
        <p:spPr>
          <a:xfrm rot="10800000">
            <a:off x="1475656" y="2708920"/>
            <a:ext cx="3240360" cy="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3" name="Google Shape;303;p29"/>
          <p:cNvCxnSpPr/>
          <p:nvPr/>
        </p:nvCxnSpPr>
        <p:spPr>
          <a:xfrm>
            <a:off x="4860032" y="5733256"/>
            <a:ext cx="504056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4" name="Google Shape;304;p29"/>
          <p:cNvCxnSpPr/>
          <p:nvPr/>
        </p:nvCxnSpPr>
        <p:spPr>
          <a:xfrm rot="10800000">
            <a:off x="1187624" y="2780928"/>
            <a:ext cx="0" cy="504056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5" name="Google Shape;305;p29"/>
          <p:cNvSpPr txBox="1"/>
          <p:nvPr/>
        </p:nvSpPr>
        <p:spPr>
          <a:xfrm>
            <a:off x="1619672" y="116632"/>
            <a:ext cx="3240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MSB=MPB+MEB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7020272" y="548680"/>
            <a:ext cx="1008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S=MSC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7164288" y="5085184"/>
            <a:ext cx="1512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D=MPB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1043608" y="2492896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1043608" y="3284984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364088" y="5517232"/>
            <a:ext cx="4956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4427984" y="5517232"/>
            <a:ext cx="4956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4644008" y="1700808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652120" y="2492896"/>
            <a:ext cx="420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4283968" y="3068960"/>
            <a:ext cx="420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5" name="Google Shape;315;p29"/>
          <p:cNvCxnSpPr>
            <a:stCxn id="295" idx="2"/>
          </p:cNvCxnSpPr>
          <p:nvPr/>
        </p:nvCxnSpPr>
        <p:spPr>
          <a:xfrm>
            <a:off x="4716016" y="1988840"/>
            <a:ext cx="0" cy="352830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6" name="Google Shape;316;p29"/>
          <p:cNvCxnSpPr>
            <a:stCxn id="295" idx="0"/>
          </p:cNvCxnSpPr>
          <p:nvPr/>
        </p:nvCxnSpPr>
        <p:spPr>
          <a:xfrm>
            <a:off x="5508104" y="2701196"/>
            <a:ext cx="0" cy="281610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7" name="Google Shape;317;p29"/>
          <p:cNvSpPr txBox="1"/>
          <p:nvPr/>
        </p:nvSpPr>
        <p:spPr>
          <a:xfrm>
            <a:off x="8316416" y="5445224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1187624" y="11663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9" name="Google Shape;319;p29"/>
          <p:cNvCxnSpPr/>
          <p:nvPr/>
        </p:nvCxnSpPr>
        <p:spPr>
          <a:xfrm>
            <a:off x="2771800" y="404664"/>
            <a:ext cx="5112568" cy="4248472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29"/>
          <p:cNvCxnSpPr/>
          <p:nvPr/>
        </p:nvCxnSpPr>
        <p:spPr>
          <a:xfrm>
            <a:off x="2051720" y="1124744"/>
            <a:ext cx="5112568" cy="424847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29"/>
          <p:cNvCxnSpPr/>
          <p:nvPr/>
        </p:nvCxnSpPr>
        <p:spPr>
          <a:xfrm flipH="1" rot="10800000">
            <a:off x="2843808" y="836712"/>
            <a:ext cx="4896544" cy="4104456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031" y="154858"/>
            <a:ext cx="8394357" cy="672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2142909" y="1554984"/>
            <a:ext cx="6861048" cy="4697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3DDF3"/>
              </a:buClr>
              <a:buSzPts val="6000"/>
              <a:buFont typeface="Century Gothic"/>
              <a:buNone/>
            </a:pPr>
            <a:r>
              <a:rPr b="1" lang="ru-RU" sz="6000">
                <a:solidFill>
                  <a:srgbClr val="A3DDF3"/>
                </a:solidFill>
              </a:rPr>
              <a:t>Интернализация внешних эффектов. Теорема Коуза</a:t>
            </a:r>
            <a:endParaRPr b="1" sz="6000">
              <a:solidFill>
                <a:srgbClr val="A3DDF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/>
          <p:nvPr/>
        </p:nvSpPr>
        <p:spPr>
          <a:xfrm>
            <a:off x="230659" y="90616"/>
            <a:ext cx="8616779" cy="6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Интернализация внешних эффектов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‒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трансформация внешних эффектов во внутренние на основе приближения предельных частных затрат (и выгод) к предельным общественным (социальным) затратам (выгодам).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Экономический субъект, деятельность которого порождает внешний эффект, должен нести издержки в полном объеме, а не перекладывать их на третьих лиц (в случае отрицательной экстерналии) или получать компенсацию за предоставление дополнительной полезности (в случае позитивного эффекта).</a:t>
            </a:r>
            <a:endParaRPr/>
          </a:p>
          <a:p>
            <a:pPr indent="457200" lvl="0" marL="0" marR="0" rtl="0" algn="just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Корректирующий налог, или налог Пигу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это налог на выпуск экономических благ, характеризующихся отрицательными внешними эффектами, который повышает предельные частные издержки до уровня предельных общественных. Налог, равный предельным внешним издержкам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 = MEC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приближает рыночное равновесие к эффективному: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MSB = MSC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3"/>
          <p:cNvCxnSpPr/>
          <p:nvPr/>
        </p:nvCxnSpPr>
        <p:spPr>
          <a:xfrm flipH="1">
            <a:off x="5354594" y="1449859"/>
            <a:ext cx="1993556" cy="8238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2" name="Google Shape;342;p33"/>
          <p:cNvCxnSpPr/>
          <p:nvPr/>
        </p:nvCxnSpPr>
        <p:spPr>
          <a:xfrm rot="10800000">
            <a:off x="5354595" y="1972999"/>
            <a:ext cx="1383956" cy="0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3" name="Google Shape;343;p33"/>
          <p:cNvCxnSpPr/>
          <p:nvPr/>
        </p:nvCxnSpPr>
        <p:spPr>
          <a:xfrm>
            <a:off x="6680886" y="1972999"/>
            <a:ext cx="24714" cy="992622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4" name="Google Shape;344;p33"/>
          <p:cNvCxnSpPr/>
          <p:nvPr/>
        </p:nvCxnSpPr>
        <p:spPr>
          <a:xfrm>
            <a:off x="7348151" y="2566614"/>
            <a:ext cx="0" cy="414122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5" name="Google Shape;345;p33"/>
          <p:cNvCxnSpPr/>
          <p:nvPr/>
        </p:nvCxnSpPr>
        <p:spPr>
          <a:xfrm flipH="1">
            <a:off x="5354595" y="2578443"/>
            <a:ext cx="2001794" cy="16476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6" name="Google Shape;346;p33"/>
          <p:cNvSpPr/>
          <p:nvPr/>
        </p:nvSpPr>
        <p:spPr>
          <a:xfrm>
            <a:off x="74141" y="4283064"/>
            <a:ext cx="9069859" cy="2574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Пусть МЕС постоянны, введем налог t на единицу продукции, причем t = MEC. Без корректирующего налога рыночное равновесие установилось бы в точке С. Введение налога привело к росту цены (Р</a:t>
            </a:r>
            <a:r>
              <a:rPr baseline="30000"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→Р</a:t>
            </a:r>
            <a:r>
              <a:rPr baseline="-25000"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и подняло МРС до MSС. Это привело к уменьшению выпуска продукции. Величина налогового сбора равна площади прямоугольника Р</a:t>
            </a:r>
            <a:r>
              <a:rPr baseline="-25000"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АFР</a:t>
            </a:r>
            <a:r>
              <a:rPr baseline="30000"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Новое равновесие, достигнутое в точке А, является эффективным, т.к. выполняется условие: MPC + MEC = MSC = MSB.</a:t>
            </a:r>
            <a:endParaRPr/>
          </a:p>
          <a:p>
            <a:pPr indent="45720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Уменьшение общественных затрат, а, следовательно, и выигрыш в эффективности равен площади треугольника AFC.</a:t>
            </a:r>
            <a:endParaRPr i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33"/>
          <p:cNvCxnSpPr/>
          <p:nvPr/>
        </p:nvCxnSpPr>
        <p:spPr>
          <a:xfrm flipH="1" rot="10800000">
            <a:off x="403654" y="2949146"/>
            <a:ext cx="3253946" cy="32951"/>
          </a:xfrm>
          <a:prstGeom prst="straightConnector1">
            <a:avLst/>
          </a:prstGeom>
          <a:noFill/>
          <a:ln cap="flat" cmpd="sng" w="2857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8" name="Google Shape;348;p33"/>
          <p:cNvCxnSpPr/>
          <p:nvPr/>
        </p:nvCxnSpPr>
        <p:spPr>
          <a:xfrm rot="10800000">
            <a:off x="387178" y="271849"/>
            <a:ext cx="0" cy="2702010"/>
          </a:xfrm>
          <a:prstGeom prst="straightConnector1">
            <a:avLst/>
          </a:prstGeom>
          <a:noFill/>
          <a:ln cap="flat" cmpd="sng" w="2857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9" name="Google Shape;349;p33"/>
          <p:cNvCxnSpPr/>
          <p:nvPr/>
        </p:nvCxnSpPr>
        <p:spPr>
          <a:xfrm>
            <a:off x="873211" y="683741"/>
            <a:ext cx="2042984" cy="1815239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33"/>
          <p:cNvCxnSpPr/>
          <p:nvPr/>
        </p:nvCxnSpPr>
        <p:spPr>
          <a:xfrm rot="10800000">
            <a:off x="395416" y="2047186"/>
            <a:ext cx="1985319" cy="0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33"/>
          <p:cNvCxnSpPr/>
          <p:nvPr/>
        </p:nvCxnSpPr>
        <p:spPr>
          <a:xfrm flipH="1">
            <a:off x="395416" y="1449859"/>
            <a:ext cx="1351006" cy="8238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2" name="Google Shape;352;p33"/>
          <p:cNvCxnSpPr/>
          <p:nvPr/>
        </p:nvCxnSpPr>
        <p:spPr>
          <a:xfrm flipH="1">
            <a:off x="1762897" y="1394416"/>
            <a:ext cx="8238" cy="1586320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3" name="Google Shape;353;p33"/>
          <p:cNvCxnSpPr/>
          <p:nvPr/>
        </p:nvCxnSpPr>
        <p:spPr>
          <a:xfrm>
            <a:off x="2421924" y="2047186"/>
            <a:ext cx="0" cy="918435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" name="Google Shape;354;p33"/>
          <p:cNvCxnSpPr/>
          <p:nvPr/>
        </p:nvCxnSpPr>
        <p:spPr>
          <a:xfrm flipH="1">
            <a:off x="2395908" y="1048343"/>
            <a:ext cx="7761" cy="964012"/>
          </a:xfrm>
          <a:prstGeom prst="straightConnector1">
            <a:avLst/>
          </a:prstGeom>
          <a:noFill/>
          <a:ln cap="flat" cmpd="sng" w="38100">
            <a:solidFill>
              <a:srgbClr val="32323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5" name="Google Shape;355;p33"/>
          <p:cNvCxnSpPr/>
          <p:nvPr/>
        </p:nvCxnSpPr>
        <p:spPr>
          <a:xfrm flipH="1" rot="10800000">
            <a:off x="5362832" y="2965621"/>
            <a:ext cx="3196282" cy="15115"/>
          </a:xfrm>
          <a:prstGeom prst="straightConnector1">
            <a:avLst/>
          </a:prstGeom>
          <a:noFill/>
          <a:ln cap="flat" cmpd="sng" w="2857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" name="Google Shape;356;p33"/>
          <p:cNvCxnSpPr/>
          <p:nvPr/>
        </p:nvCxnSpPr>
        <p:spPr>
          <a:xfrm rot="10800000">
            <a:off x="5354595" y="271849"/>
            <a:ext cx="0" cy="2693772"/>
          </a:xfrm>
          <a:prstGeom prst="straightConnector1">
            <a:avLst/>
          </a:prstGeom>
          <a:noFill/>
          <a:ln cap="flat" cmpd="sng" w="2857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7" name="Google Shape;357;p33"/>
          <p:cNvCxnSpPr/>
          <p:nvPr/>
        </p:nvCxnSpPr>
        <p:spPr>
          <a:xfrm flipH="1" rot="10800000">
            <a:off x="6128951" y="823784"/>
            <a:ext cx="1935892" cy="1682619"/>
          </a:xfrm>
          <a:prstGeom prst="straightConnector1">
            <a:avLst/>
          </a:prstGeom>
          <a:noFill/>
          <a:ln cap="flat" cmpd="sng" w="762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33"/>
          <p:cNvCxnSpPr/>
          <p:nvPr/>
        </p:nvCxnSpPr>
        <p:spPr>
          <a:xfrm>
            <a:off x="5577016" y="988541"/>
            <a:ext cx="1985319" cy="1804086"/>
          </a:xfrm>
          <a:prstGeom prst="straightConnector1">
            <a:avLst/>
          </a:prstGeom>
          <a:noFill/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33"/>
          <p:cNvCxnSpPr/>
          <p:nvPr/>
        </p:nvCxnSpPr>
        <p:spPr>
          <a:xfrm>
            <a:off x="6128951" y="364566"/>
            <a:ext cx="2018271" cy="1823010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33"/>
          <p:cNvCxnSpPr/>
          <p:nvPr/>
        </p:nvCxnSpPr>
        <p:spPr>
          <a:xfrm>
            <a:off x="7348151" y="1458097"/>
            <a:ext cx="0" cy="1108517"/>
          </a:xfrm>
          <a:prstGeom prst="straightConnector1">
            <a:avLst/>
          </a:prstGeom>
          <a:noFill/>
          <a:ln cap="flat" cmpd="sng" w="38100">
            <a:solidFill>
              <a:srgbClr val="32323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1" name="Google Shape;361;p33"/>
          <p:cNvSpPr txBox="1"/>
          <p:nvPr/>
        </p:nvSpPr>
        <p:spPr>
          <a:xfrm>
            <a:off x="105408" y="118057"/>
            <a:ext cx="2388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1870195" y="3124962"/>
            <a:ext cx="4366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a)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3" name="Google Shape;363;p33"/>
          <p:cNvSpPr txBox="1"/>
          <p:nvPr/>
        </p:nvSpPr>
        <p:spPr>
          <a:xfrm>
            <a:off x="6738551" y="3207855"/>
            <a:ext cx="6549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б)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5029951" y="1273431"/>
            <a:ext cx="423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baseline="-25000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4985710" y="2393777"/>
            <a:ext cx="423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baseline="-25000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48764" y="1249403"/>
            <a:ext cx="423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baseline="-25000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5029951" y="1788333"/>
            <a:ext cx="3978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baseline="30000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49881" y="1845620"/>
            <a:ext cx="3978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baseline="30000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1589901" y="1088765"/>
            <a:ext cx="164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33"/>
          <p:cNvSpPr txBox="1"/>
          <p:nvPr/>
        </p:nvSpPr>
        <p:spPr>
          <a:xfrm>
            <a:off x="2137908" y="636110"/>
            <a:ext cx="284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p33"/>
          <p:cNvSpPr txBox="1"/>
          <p:nvPr/>
        </p:nvSpPr>
        <p:spPr>
          <a:xfrm>
            <a:off x="2473774" y="1886124"/>
            <a:ext cx="285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p33"/>
          <p:cNvSpPr txBox="1"/>
          <p:nvPr/>
        </p:nvSpPr>
        <p:spPr>
          <a:xfrm>
            <a:off x="1520679" y="1979326"/>
            <a:ext cx="2414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p33"/>
          <p:cNvSpPr txBox="1"/>
          <p:nvPr/>
        </p:nvSpPr>
        <p:spPr>
          <a:xfrm>
            <a:off x="2880822" y="284928"/>
            <a:ext cx="8073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2855179" y="863677"/>
            <a:ext cx="980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t=MEC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3210699" y="1315770"/>
            <a:ext cx="10113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MPC=S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2847591" y="2289601"/>
            <a:ext cx="10104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MSB=D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3657600" y="2949146"/>
            <a:ext cx="3130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1567050" y="2913077"/>
            <a:ext cx="44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7140048" y="2920957"/>
            <a:ext cx="44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2193113" y="2916473"/>
            <a:ext cx="453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Q*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6471192" y="2920957"/>
            <a:ext cx="453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Q*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5051382" y="112843"/>
            <a:ext cx="2388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8499417" y="2848940"/>
            <a:ext cx="3130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7356389" y="2300901"/>
            <a:ext cx="194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6703544" y="1832903"/>
            <a:ext cx="284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33"/>
          <p:cNvSpPr txBox="1"/>
          <p:nvPr/>
        </p:nvSpPr>
        <p:spPr>
          <a:xfrm>
            <a:off x="7420331" y="1257864"/>
            <a:ext cx="3211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33"/>
          <p:cNvSpPr txBox="1"/>
          <p:nvPr/>
        </p:nvSpPr>
        <p:spPr>
          <a:xfrm>
            <a:off x="7513517" y="2600289"/>
            <a:ext cx="10980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MPB=D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8" name="Google Shape;388;p33"/>
          <p:cNvSpPr txBox="1"/>
          <p:nvPr/>
        </p:nvSpPr>
        <p:spPr>
          <a:xfrm>
            <a:off x="7837085" y="493003"/>
            <a:ext cx="10021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MSC=S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7897643" y="1584172"/>
            <a:ext cx="8780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s=MEB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5895378" y="64304"/>
            <a:ext cx="19005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MSB=MPB+MEB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91" name="Google Shape;391;p33"/>
          <p:cNvCxnSpPr>
            <a:stCxn id="389" idx="1"/>
          </p:cNvCxnSpPr>
          <p:nvPr/>
        </p:nvCxnSpPr>
        <p:spPr>
          <a:xfrm flipH="1">
            <a:off x="7356443" y="1768838"/>
            <a:ext cx="541200" cy="301200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33"/>
          <p:cNvCxnSpPr/>
          <p:nvPr/>
        </p:nvCxnSpPr>
        <p:spPr>
          <a:xfrm flipH="1">
            <a:off x="2705059" y="1160555"/>
            <a:ext cx="257400" cy="297542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p33"/>
          <p:cNvCxnSpPr/>
          <p:nvPr/>
        </p:nvCxnSpPr>
        <p:spPr>
          <a:xfrm flipH="1" rot="10800000">
            <a:off x="1062681" y="543697"/>
            <a:ext cx="1878227" cy="1489254"/>
          </a:xfrm>
          <a:prstGeom prst="straightConnector1">
            <a:avLst/>
          </a:prstGeom>
          <a:noFill/>
          <a:ln cap="flat" cmpd="sng" w="762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33"/>
          <p:cNvCxnSpPr/>
          <p:nvPr/>
        </p:nvCxnSpPr>
        <p:spPr>
          <a:xfrm flipH="1" rot="10800000">
            <a:off x="1416908" y="1359243"/>
            <a:ext cx="1927654" cy="1433384"/>
          </a:xfrm>
          <a:prstGeom prst="straightConnector1">
            <a:avLst/>
          </a:prstGeom>
          <a:noFill/>
          <a:ln cap="flat" cmpd="sng" w="762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33"/>
          <p:cNvSpPr/>
          <p:nvPr/>
        </p:nvSpPr>
        <p:spPr>
          <a:xfrm>
            <a:off x="2421924" y="988541"/>
            <a:ext cx="296562" cy="98445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3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6" name="Google Shape;396;p33"/>
          <p:cNvSpPr/>
          <p:nvPr/>
        </p:nvSpPr>
        <p:spPr>
          <a:xfrm>
            <a:off x="1720406" y="1411582"/>
            <a:ext cx="102834" cy="94991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33"/>
          <p:cNvSpPr/>
          <p:nvPr/>
        </p:nvSpPr>
        <p:spPr>
          <a:xfrm>
            <a:off x="2368681" y="1992019"/>
            <a:ext cx="102834" cy="94991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6654451" y="1949282"/>
            <a:ext cx="102834" cy="94991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7296734" y="1405445"/>
            <a:ext cx="102834" cy="94991"/>
          </a:xfrm>
          <a:prstGeom prst="ellipse">
            <a:avLst/>
          </a:prstGeom>
          <a:solidFill>
            <a:schemeClr val="accent1"/>
          </a:solidFill>
          <a:ln cap="rnd" cmpd="sng" w="1587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0" name="Google Shape;400;p33"/>
          <p:cNvCxnSpPr/>
          <p:nvPr/>
        </p:nvCxnSpPr>
        <p:spPr>
          <a:xfrm flipH="1" rot="10800000">
            <a:off x="6806378" y="2836100"/>
            <a:ext cx="502842" cy="6886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1" name="Google Shape;401;p33"/>
          <p:cNvCxnSpPr/>
          <p:nvPr/>
        </p:nvCxnSpPr>
        <p:spPr>
          <a:xfrm rot="10800000">
            <a:off x="1832101" y="2835297"/>
            <a:ext cx="473003" cy="7689"/>
          </a:xfrm>
          <a:prstGeom prst="straightConnector1">
            <a:avLst/>
          </a:prstGeom>
          <a:noFill/>
          <a:ln cap="rnd" cmpd="sng" w="9525">
            <a:solidFill>
              <a:srgbClr val="3232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2" name="Google Shape;402;p33"/>
          <p:cNvSpPr/>
          <p:nvPr/>
        </p:nvSpPr>
        <p:spPr>
          <a:xfrm>
            <a:off x="1592800" y="3691153"/>
            <a:ext cx="60342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 </a:t>
            </a:r>
            <a:r>
              <a:rPr i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Корректирующие налоги (а) и субсидии (б)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4"/>
          <p:cNvSpPr/>
          <p:nvPr/>
        </p:nvSpPr>
        <p:spPr>
          <a:xfrm>
            <a:off x="65903" y="188640"/>
            <a:ext cx="889858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избегании ущерба для 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мы навлекаем ущерб на 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Действительный вопрос, который нужно решить, это следует ли позволить 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наносить ущерб 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или нужно разрешить 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наносить ущерб 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Проблема в том, чтобы избежать более серьезного ущерба»</a:t>
            </a:r>
            <a:endParaRPr/>
          </a:p>
          <a:p>
            <a:pPr indent="45720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Коуз Р. Фирма, рынок и право. С. 85—86.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189470" y="2136339"/>
            <a:ext cx="8775018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Теорема Коуза: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права собственности всех сторон тщательно определены, а трансакционные издержки равны нулю, конечный результат (максимизирующий ценность производства) не зависит от изменений в распределении прав собственности (если отвлечься от эффекта дохода).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Вывод: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участники могут договориться сами и издержки таких переговоров ничтожно малы (трансакционные издержки равны нулю), то в обоих случаях в условиях совершенной конкуренции достигается максимально возможный результат, максимизирующий ценность производства.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Теорема Коуза помогает выработать правильную стратегию в борьбе с загрязнением окружающей среды.</a:t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/>
          <p:nvPr/>
        </p:nvSpPr>
        <p:spPr>
          <a:xfrm>
            <a:off x="226541" y="118587"/>
            <a:ext cx="8851556" cy="6586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Права собственности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совокупность властных прав, складывающихся между людьми по поводу использования ими экономических благ.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75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Классификация прав собственности: </a:t>
            </a:r>
            <a:endParaRPr/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 владения;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 пользования;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 распоряжения;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 на доход;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 на капитальную стоимость;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 на безопасность;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право на наследование;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бессрочность;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запрещение вредного использования;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ответственность в виде взыскания;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74295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остаточный характер.</a:t>
            </a:r>
            <a:endParaRPr/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Спецификация прав собственности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определение субъекта, объекта собственности и способов наделения ею; четкое определение правомочий собственника.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Размывание прав собственности</a:t>
            </a: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ослабление спецификации прав собственности.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 txBox="1"/>
          <p:nvPr>
            <p:ph type="title"/>
          </p:nvPr>
        </p:nvSpPr>
        <p:spPr>
          <a:xfrm>
            <a:off x="1614617" y="807308"/>
            <a:ext cx="7603524" cy="5469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3DDF3"/>
              </a:buClr>
              <a:buSzPts val="4400"/>
              <a:buFont typeface="Century Gothic"/>
              <a:buNone/>
            </a:pPr>
            <a:r>
              <a:rPr b="1" lang="ru-RU" sz="4400">
                <a:solidFill>
                  <a:srgbClr val="A3DDF3"/>
                </a:solidFill>
              </a:rPr>
              <a:t>Государство и внешние эффекты: административное регулирование; корректирующие налоги и субсидии; рынок прав на загрязнение окружающей среды.</a:t>
            </a:r>
            <a:endParaRPr b="1" sz="4400">
              <a:solidFill>
                <a:srgbClr val="A3DDF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"/>
          <p:cNvSpPr/>
          <p:nvPr/>
        </p:nvSpPr>
        <p:spPr>
          <a:xfrm>
            <a:off x="255373" y="332656"/>
            <a:ext cx="882272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Эффективная политика в области контроля за загрязнением окружающей среды</a:t>
            </a:r>
            <a:r>
              <a:rPr lang="ru-RU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— </a:t>
            </a:r>
            <a:r>
              <a:rPr i="1" lang="ru-RU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это такая политика, которая позволяет сбалансировать предельные общественные выгоды контроля с предельными общественными издержками, необходимыми для его проведения в жизнь.</a:t>
            </a:r>
            <a:endParaRPr/>
          </a:p>
        </p:txBody>
      </p:sp>
      <p:pic>
        <p:nvPicPr>
          <p:cNvPr id="424" name="Google Shape;42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807" y="3441199"/>
            <a:ext cx="7560840" cy="3211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/>
          <p:nvPr/>
        </p:nvSpPr>
        <p:spPr>
          <a:xfrm>
            <a:off x="2340864" y="704088"/>
            <a:ext cx="3127248" cy="4567428"/>
          </a:xfrm>
          <a:custGeom>
            <a:rect b="b" l="l" r="r" t="t"/>
            <a:pathLst>
              <a:path extrusionOk="0" h="4567428" w="3127248">
                <a:moveTo>
                  <a:pt x="3127248" y="0"/>
                </a:moveTo>
                <a:cubicBezTo>
                  <a:pt x="3079242" y="478536"/>
                  <a:pt x="3031236" y="957072"/>
                  <a:pt x="2944368" y="1344168"/>
                </a:cubicBezTo>
                <a:cubicBezTo>
                  <a:pt x="2857500" y="1731264"/>
                  <a:pt x="2734056" y="2026920"/>
                  <a:pt x="2606040" y="2322576"/>
                </a:cubicBezTo>
                <a:cubicBezTo>
                  <a:pt x="2478024" y="2618232"/>
                  <a:pt x="2299716" y="2916936"/>
                  <a:pt x="2176272" y="3118104"/>
                </a:cubicBezTo>
                <a:cubicBezTo>
                  <a:pt x="2052828" y="3319272"/>
                  <a:pt x="2001012" y="3375660"/>
                  <a:pt x="1865376" y="3529584"/>
                </a:cubicBezTo>
                <a:cubicBezTo>
                  <a:pt x="1729740" y="3683508"/>
                  <a:pt x="1499616" y="3924300"/>
                  <a:pt x="1362456" y="4041648"/>
                </a:cubicBezTo>
                <a:cubicBezTo>
                  <a:pt x="1225296" y="4158996"/>
                  <a:pt x="1144524" y="4180332"/>
                  <a:pt x="1042416" y="4233672"/>
                </a:cubicBezTo>
                <a:cubicBezTo>
                  <a:pt x="940308" y="4287012"/>
                  <a:pt x="845820" y="4328160"/>
                  <a:pt x="749808" y="4361688"/>
                </a:cubicBezTo>
                <a:cubicBezTo>
                  <a:pt x="653796" y="4395216"/>
                  <a:pt x="466344" y="4434840"/>
                  <a:pt x="466344" y="4434840"/>
                </a:cubicBezTo>
                <a:lnTo>
                  <a:pt x="146304" y="4517136"/>
                </a:lnTo>
                <a:cubicBezTo>
                  <a:pt x="68580" y="4536948"/>
                  <a:pt x="25908" y="4567428"/>
                  <a:pt x="0" y="4553712"/>
                </a:cubicBezTo>
              </a:path>
            </a:pathLst>
          </a:custGeom>
          <a:noFill/>
          <a:ln cap="flat" cmpd="sng" w="762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0" name="Google Shape;430;p38"/>
          <p:cNvCxnSpPr/>
          <p:nvPr/>
        </p:nvCxnSpPr>
        <p:spPr>
          <a:xfrm>
            <a:off x="2843808" y="1196752"/>
            <a:ext cx="2304256" cy="4032448"/>
          </a:xfrm>
          <a:prstGeom prst="straightConnector1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38"/>
          <p:cNvCxnSpPr/>
          <p:nvPr/>
        </p:nvCxnSpPr>
        <p:spPr>
          <a:xfrm>
            <a:off x="1619672" y="5517232"/>
            <a:ext cx="4824536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2" name="Google Shape;432;p38"/>
          <p:cNvCxnSpPr/>
          <p:nvPr/>
        </p:nvCxnSpPr>
        <p:spPr>
          <a:xfrm rot="10800000">
            <a:off x="1619672" y="548680"/>
            <a:ext cx="0" cy="49685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3" name="Google Shape;433;p38"/>
          <p:cNvCxnSpPr/>
          <p:nvPr/>
        </p:nvCxnSpPr>
        <p:spPr>
          <a:xfrm>
            <a:off x="4427984" y="4005064"/>
            <a:ext cx="0" cy="1512168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4" name="Google Shape;434;p38"/>
          <p:cNvCxnSpPr/>
          <p:nvPr/>
        </p:nvCxnSpPr>
        <p:spPr>
          <a:xfrm>
            <a:off x="5724128" y="836712"/>
            <a:ext cx="72008" cy="4608512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5" name="Google Shape;435;p38"/>
          <p:cNvSpPr txBox="1"/>
          <p:nvPr/>
        </p:nvSpPr>
        <p:spPr>
          <a:xfrm>
            <a:off x="4716016" y="620688"/>
            <a:ext cx="864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38"/>
          <p:cNvSpPr txBox="1"/>
          <p:nvPr/>
        </p:nvSpPr>
        <p:spPr>
          <a:xfrm>
            <a:off x="2411760" y="836712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7" name="Google Shape;437;p38"/>
          <p:cNvSpPr txBox="1"/>
          <p:nvPr/>
        </p:nvSpPr>
        <p:spPr>
          <a:xfrm>
            <a:off x="4283968" y="3356992"/>
            <a:ext cx="2160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8" name="Google Shape;438;p38"/>
          <p:cNvSpPr txBox="1"/>
          <p:nvPr/>
        </p:nvSpPr>
        <p:spPr>
          <a:xfrm>
            <a:off x="6372200" y="5301208"/>
            <a:ext cx="100811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Уровень выбросов (%)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8"/>
          <p:cNvSpPr txBox="1"/>
          <p:nvPr/>
        </p:nvSpPr>
        <p:spPr>
          <a:xfrm>
            <a:off x="1547664" y="5589240"/>
            <a:ext cx="50405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                                </a:t>
            </a: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</a:t>
            </a:r>
            <a:r>
              <a:rPr baseline="-25000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100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1403648" y="6093296"/>
            <a:ext cx="75608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Рис. 3. Определение эффективного уровня выбросов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8"/>
          <p:cNvSpPr txBox="1"/>
          <p:nvPr/>
        </p:nvSpPr>
        <p:spPr>
          <a:xfrm>
            <a:off x="395536" y="188640"/>
            <a:ext cx="136815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Предельные выгоды и предельные издержки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/>
          <p:nvPr/>
        </p:nvSpPr>
        <p:spPr>
          <a:xfrm>
            <a:off x="205946" y="188640"/>
            <a:ext cx="8830550" cy="6401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Регулирование внешних эффектов</a:t>
            </a: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это осуществление в виде ограничений или поощрений способов интернализации внешних эффектов, направленных на оптимизацию распределения ресурсов.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Административные природоохранные мероприятия </a:t>
            </a: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включают: регламентацию хозяйственной деятельности; мониторинг объектов природной среды и ресурсов; контроль за соблюдением стандартов и норм; государственную экологическую экспертизу.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Экономические методы </a:t>
            </a: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построены на принципе платности природопользования, который действует через систему платежей за выбросы и продажи временных разрешений на их осуществление, налогов и штрафов, а также премий и льгот. </a:t>
            </a:r>
            <a:endParaRPr b="1" sz="1800" u="sng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Пути сокращения вредных выбросов в окружающую среду: 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1) установление норм или стандартов по вредным выбросам; 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2) введение платы за выбросы; </a:t>
            </a:r>
            <a:endParaRPr/>
          </a:p>
          <a:p>
            <a:pPr indent="4572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3) продажа временных разрешений на выбросы. </a:t>
            </a:r>
            <a:endParaRPr/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Стандарты по вредным выбросам </a:t>
            </a:r>
            <a:r>
              <a:rPr i="1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(emissions standards) – это установленные законом пределы концентрации вредных веществ в промышленных отходах.</a:t>
            </a:r>
            <a:endParaRPr/>
          </a:p>
          <a:p>
            <a:pPr indent="45720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 sz="18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Плата за выбросы </a:t>
            </a: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— это </a:t>
            </a:r>
            <a:r>
              <a:rPr i="1"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плата, взимаемая с фирмы за каждую единицу загрязняющих окружающую среду выбросов.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0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0"/>
          <p:cNvSpPr/>
          <p:nvPr/>
        </p:nvSpPr>
        <p:spPr>
          <a:xfrm>
            <a:off x="1043608" y="5877272"/>
            <a:ext cx="810039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Рис. 4.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Права на загрязнение окружающей среды: роль движения “зеленых”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40"/>
          <p:cNvCxnSpPr/>
          <p:nvPr/>
        </p:nvCxnSpPr>
        <p:spPr>
          <a:xfrm>
            <a:off x="2339752" y="4941168"/>
            <a:ext cx="4536504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4" name="Google Shape;454;p40"/>
          <p:cNvCxnSpPr/>
          <p:nvPr/>
        </p:nvCxnSpPr>
        <p:spPr>
          <a:xfrm rot="10800000">
            <a:off x="2339752" y="476672"/>
            <a:ext cx="0" cy="446449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5" name="Google Shape;455;p40"/>
          <p:cNvCxnSpPr/>
          <p:nvPr/>
        </p:nvCxnSpPr>
        <p:spPr>
          <a:xfrm>
            <a:off x="2339752" y="1700808"/>
            <a:ext cx="3528392" cy="324036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40"/>
          <p:cNvCxnSpPr/>
          <p:nvPr/>
        </p:nvCxnSpPr>
        <p:spPr>
          <a:xfrm>
            <a:off x="3851920" y="476672"/>
            <a:ext cx="0" cy="4464496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40"/>
          <p:cNvCxnSpPr/>
          <p:nvPr/>
        </p:nvCxnSpPr>
        <p:spPr>
          <a:xfrm>
            <a:off x="4355976" y="548680"/>
            <a:ext cx="0" cy="4392488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40"/>
          <p:cNvCxnSpPr/>
          <p:nvPr/>
        </p:nvCxnSpPr>
        <p:spPr>
          <a:xfrm rot="10800000">
            <a:off x="2339752" y="3573016"/>
            <a:ext cx="2016224" cy="0"/>
          </a:xfrm>
          <a:prstGeom prst="straightConnector1">
            <a:avLst/>
          </a:prstGeom>
          <a:noFill/>
          <a:ln cap="flat" cmpd="sng" w="15875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9" name="Google Shape;459;p40"/>
          <p:cNvCxnSpPr/>
          <p:nvPr/>
        </p:nvCxnSpPr>
        <p:spPr>
          <a:xfrm rot="10800000">
            <a:off x="2339752" y="3140968"/>
            <a:ext cx="1512168" cy="0"/>
          </a:xfrm>
          <a:prstGeom prst="straightConnector1">
            <a:avLst/>
          </a:prstGeom>
          <a:noFill/>
          <a:ln cap="flat" cmpd="sng" w="1905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0" name="Google Shape;460;p40"/>
          <p:cNvSpPr txBox="1"/>
          <p:nvPr/>
        </p:nvSpPr>
        <p:spPr>
          <a:xfrm>
            <a:off x="3851920" y="278092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Е’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40"/>
          <p:cNvSpPr txBox="1"/>
          <p:nvPr/>
        </p:nvSpPr>
        <p:spPr>
          <a:xfrm>
            <a:off x="4572000" y="3284984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2" name="Google Shape;462;p40"/>
          <p:cNvSpPr txBox="1"/>
          <p:nvPr/>
        </p:nvSpPr>
        <p:spPr>
          <a:xfrm>
            <a:off x="4499992" y="404664"/>
            <a:ext cx="12961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S=MSC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40"/>
          <p:cNvSpPr txBox="1"/>
          <p:nvPr/>
        </p:nvSpPr>
        <p:spPr>
          <a:xfrm>
            <a:off x="3419872" y="40466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S’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p40"/>
          <p:cNvSpPr txBox="1"/>
          <p:nvPr/>
        </p:nvSpPr>
        <p:spPr>
          <a:xfrm>
            <a:off x="2555776" y="1556792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D=MSB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5" name="Google Shape;465;p40"/>
          <p:cNvSpPr txBox="1"/>
          <p:nvPr/>
        </p:nvSpPr>
        <p:spPr>
          <a:xfrm>
            <a:off x="1043608" y="476672"/>
            <a:ext cx="1368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Цена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(тыс. руб. за кг)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6" name="Google Shape;466;p40"/>
          <p:cNvSpPr txBox="1"/>
          <p:nvPr/>
        </p:nvSpPr>
        <p:spPr>
          <a:xfrm>
            <a:off x="1691680" y="2852936"/>
            <a:ext cx="7200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0"/>
          <p:cNvSpPr txBox="1"/>
          <p:nvPr/>
        </p:nvSpPr>
        <p:spPr>
          <a:xfrm>
            <a:off x="2195736" y="5013176"/>
            <a:ext cx="4320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0                    900   1000             1500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0"/>
          <p:cNvSpPr txBox="1"/>
          <p:nvPr/>
        </p:nvSpPr>
        <p:spPr>
          <a:xfrm>
            <a:off x="6804248" y="4725144"/>
            <a:ext cx="201622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Количество лицензий или количество выбросов (кг в день)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Легкий дым">
  <a:themeElements>
    <a:clrScheme name="Легкий дым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