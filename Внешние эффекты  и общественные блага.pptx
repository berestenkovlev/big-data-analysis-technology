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5" r:id="rId4"/>
    <p:sldId id="306" r:id="rId5"/>
    <p:sldId id="298" r:id="rId6"/>
    <p:sldId id="258" r:id="rId7"/>
    <p:sldId id="259" r:id="rId8"/>
    <p:sldId id="260" r:id="rId9"/>
    <p:sldId id="261" r:id="rId10"/>
    <p:sldId id="262" r:id="rId11"/>
    <p:sldId id="265" r:id="rId12"/>
    <p:sldId id="263" r:id="rId13"/>
    <p:sldId id="270" r:id="rId14"/>
    <p:sldId id="269" r:id="rId15"/>
    <p:sldId id="301" r:id="rId16"/>
    <p:sldId id="302" r:id="rId17"/>
    <p:sldId id="303" r:id="rId18"/>
    <p:sldId id="266" r:id="rId19"/>
    <p:sldId id="286" r:id="rId20"/>
    <p:sldId id="272" r:id="rId21"/>
    <p:sldId id="282" r:id="rId22"/>
    <p:sldId id="283" r:id="rId23"/>
    <p:sldId id="273" r:id="rId24"/>
    <p:sldId id="274" r:id="rId25"/>
    <p:sldId id="268" r:id="rId26"/>
    <p:sldId id="275" r:id="rId27"/>
    <p:sldId id="276" r:id="rId28"/>
    <p:sldId id="284" r:id="rId29"/>
    <p:sldId id="287" r:id="rId30"/>
    <p:sldId id="288" r:id="rId31"/>
    <p:sldId id="285" r:id="rId32"/>
    <p:sldId id="289" r:id="rId33"/>
    <p:sldId id="290" r:id="rId34"/>
    <p:sldId id="279" r:id="rId35"/>
    <p:sldId id="291" r:id="rId36"/>
    <p:sldId id="293" r:id="rId37"/>
    <p:sldId id="292" r:id="rId38"/>
    <p:sldId id="277" r:id="rId39"/>
    <p:sldId id="278" r:id="rId40"/>
    <p:sldId id="281" r:id="rId41"/>
    <p:sldId id="294" r:id="rId42"/>
    <p:sldId id="299" r:id="rId43"/>
    <p:sldId id="280" r:id="rId44"/>
    <p:sldId id="295" r:id="rId45"/>
    <p:sldId id="271" r:id="rId46"/>
    <p:sldId id="300" r:id="rId47"/>
    <p:sldId id="297" r:id="rId48"/>
    <p:sldId id="296" r:id="rId49"/>
    <p:sldId id="304" r:id="rId5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15" autoAdjust="0"/>
  </p:normalViewPr>
  <p:slideViewPr>
    <p:cSldViewPr>
      <p:cViewPr>
        <p:scale>
          <a:sx n="66" d="100"/>
          <a:sy n="66" d="100"/>
        </p:scale>
        <p:origin x="-2922" y="-10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6B2796B-84D0-45AC-A65A-FBD6E1B2F056}" type="datetimeFigureOut">
              <a:rPr lang="ru-RU" smtClean="0"/>
              <a:pPr/>
              <a:t>22.09.2017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0E2E0CF-7C39-436D-9871-B5AA149B6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19200" y="3501008"/>
            <a:ext cx="6858000" cy="1375792"/>
          </a:xfrm>
        </p:spPr>
        <p:txBody>
          <a:bodyPr>
            <a:noAutofit/>
          </a:bodyPr>
          <a:lstStyle/>
          <a:p>
            <a:r>
              <a:rPr lang="ru-RU" sz="4000" dirty="0" smtClean="0"/>
              <a:t>Внешние эффекты  и общественные блага</a:t>
            </a:r>
            <a:endParaRPr lang="ru-RU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Внешние эффекты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Внешние эффекты (</a:t>
            </a:r>
            <a:r>
              <a:rPr lang="ru-RU" sz="2800" dirty="0" err="1" smtClean="0"/>
              <a:t>экстерналии</a:t>
            </a:r>
            <a:r>
              <a:rPr lang="ru-RU" sz="2800" dirty="0" smtClean="0"/>
              <a:t>), т.е. выгоды или издержки, получаемые экономическими субъектами, которые не находят отражения в цене благ.</a:t>
            </a:r>
          </a:p>
          <a:p>
            <a:r>
              <a:rPr lang="ru-RU" sz="2800" dirty="0" smtClean="0"/>
              <a:t>Отрицательные внешние эффекты ведут к перепроизводству, а положительные – к недопроизводству благ. 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2304"/>
          </a:xfrm>
        </p:spPr>
        <p:txBody>
          <a:bodyPr>
            <a:normAutofit/>
          </a:bodyPr>
          <a:lstStyle/>
          <a:p>
            <a:r>
              <a:rPr lang="ru-RU" b="1" dirty="0" smtClean="0"/>
              <a:t>Классификация внешних </a:t>
            </a:r>
            <a:r>
              <a:rPr lang="ru-RU" b="1" dirty="0" smtClean="0"/>
              <a:t>эффектов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23528" y="908720"/>
          <a:ext cx="8496944" cy="5616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408"/>
                <a:gridCol w="4824536"/>
              </a:tblGrid>
              <a:tr h="958936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Критерий классификации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Внешние эффекты</a:t>
                      </a:r>
                    </a:p>
                    <a:p>
                      <a:endParaRPr lang="ru-RU" sz="2400" dirty="0"/>
                    </a:p>
                  </a:txBody>
                  <a:tcPr/>
                </a:tc>
              </a:tr>
              <a:tr h="958936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По источнику возникновения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В производстве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400" dirty="0" smtClean="0"/>
                        <a:t>В потреблении</a:t>
                      </a:r>
                      <a:endParaRPr lang="ru-RU" sz="2400" dirty="0"/>
                    </a:p>
                  </a:txBody>
                  <a:tcPr/>
                </a:tc>
              </a:tr>
              <a:tr h="958936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По масштабу воздействия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Локальные</a:t>
                      </a:r>
                    </a:p>
                    <a:p>
                      <a:r>
                        <a:rPr lang="ru-RU" sz="2400" dirty="0" smtClean="0"/>
                        <a:t>Глобальные</a:t>
                      </a:r>
                    </a:p>
                  </a:txBody>
                  <a:tcPr/>
                </a:tc>
              </a:tr>
              <a:tr h="958936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По степени воздействия на третьих лиц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Положительные</a:t>
                      </a:r>
                    </a:p>
                    <a:p>
                      <a:r>
                        <a:rPr lang="ru-RU" sz="2400" dirty="0" smtClean="0"/>
                        <a:t>Отрицательные</a:t>
                      </a:r>
                    </a:p>
                  </a:txBody>
                  <a:tcPr/>
                </a:tc>
              </a:tr>
              <a:tr h="178088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По двустороннему характеру 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Производство — </a:t>
                      </a:r>
                      <a:r>
                        <a:rPr lang="ru-RU" sz="2400" dirty="0" err="1" smtClean="0"/>
                        <a:t>производство</a:t>
                      </a:r>
                      <a:endParaRPr lang="ru-RU" sz="2400" dirty="0" smtClean="0"/>
                    </a:p>
                    <a:p>
                      <a:r>
                        <a:rPr lang="ru-RU" sz="2400" dirty="0" smtClean="0"/>
                        <a:t>Производство — потребление</a:t>
                      </a:r>
                    </a:p>
                    <a:p>
                      <a:r>
                        <a:rPr lang="ru-RU" sz="2400" dirty="0" smtClean="0"/>
                        <a:t>Потребление — </a:t>
                      </a:r>
                      <a:r>
                        <a:rPr lang="ru-RU" sz="2400" dirty="0" err="1" smtClean="0"/>
                        <a:t>потребление</a:t>
                      </a:r>
                      <a:endParaRPr lang="ru-RU" sz="2400" dirty="0" smtClean="0"/>
                    </a:p>
                    <a:p>
                      <a:r>
                        <a:rPr lang="ru-RU" sz="2400" dirty="0" smtClean="0"/>
                        <a:t>Потребление — производство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007" y="1186476"/>
            <a:ext cx="7521401" cy="51228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Распределение и использование </a:t>
            </a:r>
            <a:br>
              <a:rPr lang="ru-RU" dirty="0" smtClean="0"/>
            </a:br>
            <a:r>
              <a:rPr lang="ru-RU" dirty="0" smtClean="0"/>
              <a:t>ресурсов при наличии внешних факторов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395536" y="1397000"/>
          <a:ext cx="8424936" cy="4567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12468"/>
                <a:gridCol w="4212468"/>
              </a:tblGrid>
              <a:tr h="6813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Отрицательные внешние эффекты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smtClean="0"/>
                        <a:t>Положительные внешние эффекты</a:t>
                      </a:r>
                    </a:p>
                    <a:p>
                      <a:endParaRPr lang="ru-RU" sz="2000" dirty="0"/>
                    </a:p>
                  </a:txBody>
                  <a:tcPr/>
                </a:tc>
              </a:tr>
              <a:tr h="1062615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1) Часть издержек  перекладывается </a:t>
                      </a:r>
                    </a:p>
                    <a:p>
                      <a:r>
                        <a:rPr lang="ru-RU" sz="2000" dirty="0" smtClean="0"/>
                        <a:t>на других лиц или организации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1) Часть совокупной полезности </a:t>
                      </a:r>
                      <a:r>
                        <a:rPr lang="ru-RU" sz="2000" smtClean="0"/>
                        <a:t>блага бесплатно </a:t>
                      </a:r>
                      <a:r>
                        <a:rPr lang="ru-RU" sz="2000" dirty="0" smtClean="0"/>
                        <a:t>присваивается другими лицами или организациями</a:t>
                      </a:r>
                      <a:endParaRPr lang="ru-RU" sz="2000" dirty="0"/>
                    </a:p>
                  </a:txBody>
                  <a:tcPr/>
                </a:tc>
              </a:tr>
              <a:tr h="681353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2) Общественные издержки не учитываются в цене продукции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2) Общественная выгода не </a:t>
                      </a:r>
                    </a:p>
                    <a:p>
                      <a:r>
                        <a:rPr lang="ru-RU" sz="2000" dirty="0" smtClean="0"/>
                        <a:t>учитывается в цене продукции</a:t>
                      </a:r>
                    </a:p>
                  </a:txBody>
                  <a:tcPr/>
                </a:tc>
              </a:tr>
              <a:tr h="681353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3) Цены на производимые блага занижены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3) Цены на производимые блага занижены</a:t>
                      </a:r>
                      <a:endParaRPr lang="ru-RU" sz="2000" dirty="0"/>
                    </a:p>
                  </a:txBody>
                  <a:tcPr/>
                </a:tc>
              </a:tr>
              <a:tr h="681353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4) Объем производства превышает  оптимальный уровень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4) Объем производства ниже </a:t>
                      </a:r>
                    </a:p>
                    <a:p>
                      <a:r>
                        <a:rPr lang="ru-RU" sz="2000" dirty="0" smtClean="0"/>
                        <a:t>оптимального уровня</a:t>
                      </a:r>
                      <a:endParaRPr lang="ru-RU" sz="2000" dirty="0"/>
                    </a:p>
                  </a:txBody>
                  <a:tcPr/>
                </a:tc>
              </a:tr>
              <a:tr h="681353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5) Избыточное привлечение ресурсов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5) Недостаточное привлечение и </a:t>
                      </a:r>
                    </a:p>
                    <a:p>
                      <a:r>
                        <a:rPr lang="ru-RU" sz="2000" dirty="0" smtClean="0"/>
                        <a:t>использование ресурсов</a:t>
                      </a:r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539552" y="2060848"/>
            <a:ext cx="3888432" cy="4320480"/>
            <a:chOff x="1209" y="8971"/>
            <a:chExt cx="4267" cy="3955"/>
          </a:xfrm>
        </p:grpSpPr>
        <p:cxnSp>
          <p:nvCxnSpPr>
            <p:cNvPr id="1027" name="AutoShape 3"/>
            <p:cNvCxnSpPr>
              <a:cxnSpLocks noChangeShapeType="1"/>
            </p:cNvCxnSpPr>
            <p:nvPr/>
          </p:nvCxnSpPr>
          <p:spPr bwMode="auto">
            <a:xfrm flipV="1">
              <a:off x="1751" y="9398"/>
              <a:ext cx="4" cy="297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28" name="AutoShape 4"/>
            <p:cNvCxnSpPr>
              <a:cxnSpLocks noChangeShapeType="1"/>
            </p:cNvCxnSpPr>
            <p:nvPr/>
          </p:nvCxnSpPr>
          <p:spPr bwMode="auto">
            <a:xfrm>
              <a:off x="1754" y="12370"/>
              <a:ext cx="3176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1029" name="AutoShape 5"/>
            <p:cNvCxnSpPr>
              <a:cxnSpLocks noChangeShapeType="1"/>
            </p:cNvCxnSpPr>
            <p:nvPr/>
          </p:nvCxnSpPr>
          <p:spPr bwMode="auto">
            <a:xfrm flipV="1">
              <a:off x="1942" y="9448"/>
              <a:ext cx="2500" cy="13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030" name="Group 6"/>
            <p:cNvGrpSpPr>
              <a:grpSpLocks/>
            </p:cNvGrpSpPr>
            <p:nvPr/>
          </p:nvGrpSpPr>
          <p:grpSpPr bwMode="auto">
            <a:xfrm>
              <a:off x="1209" y="8971"/>
              <a:ext cx="4267" cy="3955"/>
              <a:chOff x="1209" y="8327"/>
              <a:chExt cx="4267" cy="3955"/>
            </a:xfrm>
          </p:grpSpPr>
          <p:cxnSp>
            <p:nvCxnSpPr>
              <p:cNvPr id="1031" name="AutoShape 7"/>
              <p:cNvCxnSpPr>
                <a:cxnSpLocks noChangeShapeType="1"/>
              </p:cNvCxnSpPr>
              <p:nvPr/>
            </p:nvCxnSpPr>
            <p:spPr bwMode="auto">
              <a:xfrm>
                <a:off x="2224" y="9031"/>
                <a:ext cx="2078" cy="245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2" name="AutoShape 8"/>
              <p:cNvCxnSpPr>
                <a:cxnSpLocks noChangeShapeType="1"/>
              </p:cNvCxnSpPr>
              <p:nvPr/>
            </p:nvCxnSpPr>
            <p:spPr bwMode="auto">
              <a:xfrm flipV="1">
                <a:off x="2137" y="9729"/>
                <a:ext cx="2500" cy="1197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1033" name="AutoShape 9"/>
              <p:cNvCxnSpPr>
                <a:cxnSpLocks noChangeShapeType="1"/>
              </p:cNvCxnSpPr>
              <p:nvPr/>
            </p:nvCxnSpPr>
            <p:spPr bwMode="auto">
              <a:xfrm>
                <a:off x="3362" y="9430"/>
                <a:ext cx="0" cy="2296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034" name="AutoShape 10"/>
              <p:cNvCxnSpPr>
                <a:cxnSpLocks noChangeShapeType="1"/>
              </p:cNvCxnSpPr>
              <p:nvPr/>
            </p:nvCxnSpPr>
            <p:spPr bwMode="auto">
              <a:xfrm>
                <a:off x="2800" y="9587"/>
                <a:ext cx="0" cy="2139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035" name="AutoShape 11"/>
              <p:cNvCxnSpPr>
                <a:cxnSpLocks noChangeShapeType="1"/>
              </p:cNvCxnSpPr>
              <p:nvPr/>
            </p:nvCxnSpPr>
            <p:spPr bwMode="auto">
              <a:xfrm flipH="1">
                <a:off x="1863" y="9658"/>
                <a:ext cx="93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cxnSp>
            <p:nvCxnSpPr>
              <p:cNvPr id="1036" name="AutoShape 12"/>
              <p:cNvCxnSpPr>
                <a:cxnSpLocks noChangeShapeType="1"/>
              </p:cNvCxnSpPr>
              <p:nvPr/>
            </p:nvCxnSpPr>
            <p:spPr bwMode="auto">
              <a:xfrm flipH="1">
                <a:off x="1751" y="10300"/>
                <a:ext cx="1611" cy="7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</p:cxnSp>
          <p:sp>
            <p:nvSpPr>
              <p:cNvPr id="1037" name="Text Box 13"/>
              <p:cNvSpPr txBox="1">
                <a:spLocks noChangeArrowheads="1"/>
              </p:cNvSpPr>
              <p:nvPr/>
            </p:nvSpPr>
            <p:spPr bwMode="auto">
              <a:xfrm>
                <a:off x="2888" y="9286"/>
                <a:ext cx="928" cy="10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8" name="Text Box 14"/>
              <p:cNvSpPr txBox="1">
                <a:spLocks noChangeArrowheads="1"/>
              </p:cNvSpPr>
              <p:nvPr/>
            </p:nvSpPr>
            <p:spPr bwMode="auto">
              <a:xfrm>
                <a:off x="4930" y="11483"/>
                <a:ext cx="546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Q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9" name="Text Box 15"/>
              <p:cNvSpPr txBox="1">
                <a:spLocks noChangeArrowheads="1"/>
              </p:cNvSpPr>
              <p:nvPr/>
            </p:nvSpPr>
            <p:spPr bwMode="auto">
              <a:xfrm>
                <a:off x="3084" y="11726"/>
                <a:ext cx="675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Q</a:t>
                </a:r>
                <a:r>
                  <a:rPr kumimoji="0" lang="en-US" sz="14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P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0" name="Text Box 16"/>
              <p:cNvSpPr txBox="1">
                <a:spLocks noChangeArrowheads="1"/>
              </p:cNvSpPr>
              <p:nvPr/>
            </p:nvSpPr>
            <p:spPr bwMode="auto">
              <a:xfrm>
                <a:off x="2428" y="11727"/>
                <a:ext cx="686" cy="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Q</a:t>
                </a:r>
                <a:r>
                  <a:rPr kumimoji="0" lang="en-US" sz="14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1" name="Text Box 17"/>
              <p:cNvSpPr txBox="1">
                <a:spLocks noChangeArrowheads="1"/>
              </p:cNvSpPr>
              <p:nvPr/>
            </p:nvSpPr>
            <p:spPr bwMode="auto">
              <a:xfrm>
                <a:off x="1281" y="8327"/>
                <a:ext cx="545" cy="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P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2" name="Text Box 18"/>
              <p:cNvSpPr txBox="1">
                <a:spLocks noChangeArrowheads="1"/>
              </p:cNvSpPr>
              <p:nvPr/>
            </p:nvSpPr>
            <p:spPr bwMode="auto">
              <a:xfrm>
                <a:off x="1209" y="10114"/>
                <a:ext cx="545" cy="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P</a:t>
                </a:r>
                <a:r>
                  <a:rPr kumimoji="0" lang="en-US" sz="14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P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3" name="Text Box 19"/>
              <p:cNvSpPr txBox="1">
                <a:spLocks noChangeArrowheads="1"/>
              </p:cNvSpPr>
              <p:nvPr/>
            </p:nvSpPr>
            <p:spPr bwMode="auto">
              <a:xfrm>
                <a:off x="1209" y="9286"/>
                <a:ext cx="716" cy="55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P</a:t>
                </a:r>
                <a:r>
                  <a:rPr kumimoji="0" lang="en-US" sz="1400" b="0" i="0" u="none" strike="noStrike" cap="none" normalizeH="0" baseline="-2500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4" name="Text Box 20"/>
              <p:cNvSpPr txBox="1">
                <a:spLocks noChangeArrowheads="1"/>
              </p:cNvSpPr>
              <p:nvPr/>
            </p:nvSpPr>
            <p:spPr bwMode="auto">
              <a:xfrm>
                <a:off x="4104" y="10927"/>
                <a:ext cx="948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MSB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5" name="Text Box 21"/>
              <p:cNvSpPr txBox="1">
                <a:spLocks noChangeArrowheads="1"/>
              </p:cNvSpPr>
              <p:nvPr/>
            </p:nvSpPr>
            <p:spPr bwMode="auto">
              <a:xfrm>
                <a:off x="1379" y="11554"/>
                <a:ext cx="546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0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6" name="Text Box 22"/>
              <p:cNvSpPr txBox="1">
                <a:spLocks noChangeArrowheads="1"/>
              </p:cNvSpPr>
              <p:nvPr/>
            </p:nvSpPr>
            <p:spPr bwMode="auto">
              <a:xfrm>
                <a:off x="3506" y="9430"/>
                <a:ext cx="546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7" name="Text Box 23"/>
              <p:cNvSpPr txBox="1">
                <a:spLocks noChangeArrowheads="1"/>
              </p:cNvSpPr>
              <p:nvPr/>
            </p:nvSpPr>
            <p:spPr bwMode="auto">
              <a:xfrm>
                <a:off x="4126" y="8332"/>
                <a:ext cx="948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MSC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48" name="Text Box 24"/>
              <p:cNvSpPr txBox="1">
                <a:spLocks noChangeArrowheads="1"/>
              </p:cNvSpPr>
              <p:nvPr/>
            </p:nvSpPr>
            <p:spPr bwMode="auto">
              <a:xfrm>
                <a:off x="4126" y="9416"/>
                <a:ext cx="948" cy="5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MPC</a:t>
                </a:r>
                <a:endParaRPr kumimoji="0" lang="ru-RU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</p:grpSp>
      <p:grpSp>
        <p:nvGrpSpPr>
          <p:cNvPr id="1049" name="Group 25"/>
          <p:cNvGrpSpPr>
            <a:grpSpLocks/>
          </p:cNvGrpSpPr>
          <p:nvPr/>
        </p:nvGrpSpPr>
        <p:grpSpPr bwMode="auto">
          <a:xfrm>
            <a:off x="4932040" y="1916832"/>
            <a:ext cx="3960440" cy="4392488"/>
            <a:chOff x="6225" y="8893"/>
            <a:chExt cx="4540" cy="3955"/>
          </a:xfrm>
        </p:grpSpPr>
        <p:grpSp>
          <p:nvGrpSpPr>
            <p:cNvPr id="1050" name="Group 26"/>
            <p:cNvGrpSpPr>
              <a:grpSpLocks/>
            </p:cNvGrpSpPr>
            <p:nvPr/>
          </p:nvGrpSpPr>
          <p:grpSpPr bwMode="auto">
            <a:xfrm>
              <a:off x="6225" y="8893"/>
              <a:ext cx="4540" cy="3955"/>
              <a:chOff x="5458" y="8971"/>
              <a:chExt cx="4540" cy="3955"/>
            </a:xfrm>
          </p:grpSpPr>
          <p:cxnSp>
            <p:nvCxnSpPr>
              <p:cNvPr id="1051" name="AutoShape 27"/>
              <p:cNvCxnSpPr>
                <a:cxnSpLocks noChangeShapeType="1"/>
              </p:cNvCxnSpPr>
              <p:nvPr/>
            </p:nvCxnSpPr>
            <p:spPr bwMode="auto">
              <a:xfrm flipV="1">
                <a:off x="6031" y="9398"/>
                <a:ext cx="1" cy="2972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52" name="AutoShape 28"/>
              <p:cNvCxnSpPr>
                <a:cxnSpLocks noChangeShapeType="1"/>
              </p:cNvCxnSpPr>
              <p:nvPr/>
            </p:nvCxnSpPr>
            <p:spPr bwMode="auto">
              <a:xfrm>
                <a:off x="6031" y="12370"/>
                <a:ext cx="342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1053" name="Group 29"/>
              <p:cNvGrpSpPr>
                <a:grpSpLocks/>
              </p:cNvGrpSpPr>
              <p:nvPr/>
            </p:nvGrpSpPr>
            <p:grpSpPr bwMode="auto">
              <a:xfrm>
                <a:off x="5458" y="8971"/>
                <a:ext cx="4540" cy="3955"/>
                <a:chOff x="5458" y="8327"/>
                <a:chExt cx="4540" cy="3955"/>
              </a:xfrm>
            </p:grpSpPr>
            <p:cxnSp>
              <p:nvCxnSpPr>
                <p:cNvPr id="1054" name="AutoShape 30"/>
                <p:cNvCxnSpPr>
                  <a:cxnSpLocks noChangeShapeType="1"/>
                </p:cNvCxnSpPr>
                <p:nvPr/>
              </p:nvCxnSpPr>
              <p:spPr bwMode="auto">
                <a:xfrm flipH="1">
                  <a:off x="6405" y="9430"/>
                  <a:ext cx="2891" cy="158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55" name="AutoShape 31"/>
                <p:cNvCxnSpPr>
                  <a:cxnSpLocks noChangeShapeType="1"/>
                </p:cNvCxnSpPr>
                <p:nvPr/>
              </p:nvCxnSpPr>
              <p:spPr bwMode="auto">
                <a:xfrm>
                  <a:off x="6216" y="9729"/>
                  <a:ext cx="2196" cy="15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56" name="AutoShape 32"/>
                <p:cNvCxnSpPr>
                  <a:cxnSpLocks noChangeShapeType="1"/>
                </p:cNvCxnSpPr>
                <p:nvPr/>
              </p:nvCxnSpPr>
              <p:spPr bwMode="auto">
                <a:xfrm>
                  <a:off x="7044" y="9087"/>
                  <a:ext cx="2196" cy="154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057" name="AutoShape 33"/>
                <p:cNvCxnSpPr>
                  <a:cxnSpLocks noChangeShapeType="1"/>
                </p:cNvCxnSpPr>
                <p:nvPr/>
              </p:nvCxnSpPr>
              <p:spPr bwMode="auto">
                <a:xfrm flipH="1">
                  <a:off x="8295" y="9972"/>
                  <a:ext cx="14" cy="1754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cxnSp>
              <p:nvCxnSpPr>
                <p:cNvPr id="1058" name="AutoShape 34"/>
                <p:cNvCxnSpPr>
                  <a:cxnSpLocks noChangeShapeType="1"/>
                </p:cNvCxnSpPr>
                <p:nvPr/>
              </p:nvCxnSpPr>
              <p:spPr bwMode="auto">
                <a:xfrm>
                  <a:off x="7314" y="9245"/>
                  <a:ext cx="1" cy="248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cxnSp>
              <p:nvCxnSpPr>
                <p:cNvPr id="1059" name="AutoShape 35"/>
                <p:cNvCxnSpPr>
                  <a:cxnSpLocks noChangeShapeType="1"/>
                </p:cNvCxnSpPr>
                <p:nvPr/>
              </p:nvCxnSpPr>
              <p:spPr bwMode="auto">
                <a:xfrm flipH="1">
                  <a:off x="6031" y="10499"/>
                  <a:ext cx="1286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prstDash val="dash"/>
                  <a:round/>
                  <a:headEnd/>
                  <a:tailEnd/>
                </a:ln>
              </p:spPr>
            </p:cxnSp>
            <p:sp>
              <p:nvSpPr>
                <p:cNvPr id="1060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5480" y="9559"/>
                  <a:ext cx="608" cy="5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P</a:t>
                  </a:r>
                  <a:r>
                    <a:rPr kumimoji="0" lang="ru-RU" sz="1400" b="0" i="0" u="none" strike="noStrike" cap="none" normalizeH="0" baseline="-2500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С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1" name="Text Box 37"/>
                <p:cNvSpPr txBox="1">
                  <a:spLocks noChangeArrowheads="1"/>
                </p:cNvSpPr>
                <p:nvPr/>
              </p:nvSpPr>
              <p:spPr bwMode="auto">
                <a:xfrm>
                  <a:off x="6722" y="9215"/>
                  <a:ext cx="1145" cy="128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2" name="Text Box 38"/>
                <p:cNvSpPr txBox="1">
                  <a:spLocks noChangeArrowheads="1"/>
                </p:cNvSpPr>
                <p:nvPr/>
              </p:nvSpPr>
              <p:spPr bwMode="auto">
                <a:xfrm>
                  <a:off x="9452" y="11482"/>
                  <a:ext cx="546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Q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3" name="Text Box 39"/>
                <p:cNvSpPr txBox="1">
                  <a:spLocks noChangeArrowheads="1"/>
                </p:cNvSpPr>
                <p:nvPr/>
              </p:nvSpPr>
              <p:spPr bwMode="auto">
                <a:xfrm>
                  <a:off x="7044" y="11726"/>
                  <a:ext cx="675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Q</a:t>
                  </a:r>
                  <a:r>
                    <a:rPr kumimoji="0" lang="en-US" sz="1400" b="0" i="0" u="none" strike="noStrike" cap="none" normalizeH="0" baseline="-2500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P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4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8004" y="11727"/>
                  <a:ext cx="764" cy="5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Q</a:t>
                  </a:r>
                  <a:r>
                    <a:rPr kumimoji="0" lang="ru-RU" sz="1400" b="0" i="0" u="none" strike="noStrike" cap="none" normalizeH="0" baseline="-2500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С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5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5543" y="8327"/>
                  <a:ext cx="545" cy="5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P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6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5458" y="10187"/>
                  <a:ext cx="545" cy="55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P</a:t>
                  </a:r>
                  <a:r>
                    <a:rPr kumimoji="0" lang="en-US" sz="1400" b="0" i="0" u="none" strike="noStrike" cap="none" normalizeH="0" baseline="-2500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P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7" name="Text Box 43"/>
                <p:cNvSpPr txBox="1">
                  <a:spLocks noChangeArrowheads="1"/>
                </p:cNvSpPr>
                <p:nvPr/>
              </p:nvSpPr>
              <p:spPr bwMode="auto">
                <a:xfrm>
                  <a:off x="5670" y="11554"/>
                  <a:ext cx="546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itchFamily="18" charset="0"/>
                      <a:cs typeface="Arial" pitchFamily="34" charset="0"/>
                    </a:rPr>
                    <a:t>0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8" name="Text Box 44"/>
                <p:cNvSpPr txBox="1">
                  <a:spLocks noChangeArrowheads="1"/>
                </p:cNvSpPr>
                <p:nvPr/>
              </p:nvSpPr>
              <p:spPr bwMode="auto">
                <a:xfrm>
                  <a:off x="6499" y="9430"/>
                  <a:ext cx="546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ru-RU" sz="14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С</a:t>
                  </a:r>
                  <a:endParaRPr kumimoji="0" lang="ru-RU" sz="1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69" name="Text Box 45"/>
                <p:cNvSpPr txBox="1">
                  <a:spLocks noChangeArrowheads="1"/>
                </p:cNvSpPr>
                <p:nvPr/>
              </p:nvSpPr>
              <p:spPr bwMode="auto">
                <a:xfrm>
                  <a:off x="8768" y="8874"/>
                  <a:ext cx="948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MSC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70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8205" y="10842"/>
                  <a:ext cx="948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MPB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071" name="Text Box 47"/>
                <p:cNvSpPr txBox="1">
                  <a:spLocks noChangeArrowheads="1"/>
                </p:cNvSpPr>
                <p:nvPr/>
              </p:nvSpPr>
              <p:spPr bwMode="auto">
                <a:xfrm>
                  <a:off x="9050" y="10187"/>
                  <a:ext cx="948" cy="55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en-US" sz="1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MSB</a:t>
                  </a:r>
                  <a:endParaRPr kumimoji="0" lang="ru-RU" sz="1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cxnSp>
          <p:nvCxnSpPr>
            <p:cNvPr id="1072" name="AutoShape 48"/>
            <p:cNvCxnSpPr>
              <a:cxnSpLocks noChangeShapeType="1"/>
            </p:cNvCxnSpPr>
            <p:nvPr/>
          </p:nvCxnSpPr>
          <p:spPr bwMode="auto">
            <a:xfrm flipH="1">
              <a:off x="6809" y="10538"/>
              <a:ext cx="226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</p:spPr>
        </p:cxnSp>
      </p:grpSp>
      <p:sp>
        <p:nvSpPr>
          <p:cNvPr id="51" name="Заголовок 50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400200"/>
          </a:xfrm>
        </p:spPr>
        <p:txBody>
          <a:bodyPr>
            <a:normAutofit/>
          </a:bodyPr>
          <a:lstStyle/>
          <a:p>
            <a:r>
              <a:rPr lang="ru-RU" dirty="0" smtClean="0"/>
              <a:t>Положительный и отрицательный внешний эффект и их регулирование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Внешние эффекты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251520" y="1219200"/>
            <a:ext cx="8640960" cy="5234136"/>
          </a:xfrm>
        </p:spPr>
        <p:txBody>
          <a:bodyPr>
            <a:normAutofit/>
          </a:bodyPr>
          <a:lstStyle/>
          <a:p>
            <a:r>
              <a:rPr lang="ru-RU" sz="2800" dirty="0" err="1" smtClean="0"/>
              <a:t>Интернализация</a:t>
            </a:r>
            <a:r>
              <a:rPr lang="ru-RU" sz="2800" dirty="0" smtClean="0"/>
              <a:t> внешних эффектов предполагает их трансформацию во внутренние эффекты рыночного механизма. </a:t>
            </a:r>
          </a:p>
          <a:p>
            <a:r>
              <a:rPr lang="ru-RU" sz="2800" dirty="0" smtClean="0"/>
              <a:t>Цель </a:t>
            </a:r>
            <a:r>
              <a:rPr lang="ru-RU" sz="2800" dirty="0" err="1" smtClean="0"/>
              <a:t>интернализации</a:t>
            </a:r>
            <a:r>
              <a:rPr lang="ru-RU" sz="2800" dirty="0" smtClean="0"/>
              <a:t> : субъекты, производящие внешние эффекты, должны учитывать внешние затраты или получать компенсацию за внешние выгоды. </a:t>
            </a:r>
          </a:p>
          <a:p>
            <a:r>
              <a:rPr lang="ru-RU" sz="2800" dirty="0" smtClean="0"/>
              <a:t>Главный инструмент </a:t>
            </a:r>
            <a:r>
              <a:rPr lang="ru-RU" sz="2800" dirty="0" err="1" smtClean="0"/>
              <a:t>интернализации</a:t>
            </a:r>
            <a:r>
              <a:rPr lang="ru-RU" sz="2800" dirty="0" smtClean="0"/>
              <a:t> отрицательных внешних эффектов – корректирующие налоги, а положительных – субсидии.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Методы государственного воздействия  на внешние эффекты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Во-первых, принятие законов, запрещающих загрязнение окружающей среды, может заставить предприятия приобретать дополнительное оборудование, предотвращающее вредные выбросы. </a:t>
            </a:r>
          </a:p>
          <a:p>
            <a:r>
              <a:rPr lang="ru-RU" dirty="0" smtClean="0"/>
              <a:t>Это увеличивает издержки производства и уменьшает конкурентоспособность подобных фирм, и в ряде случаев может привести не только к уменьшению предложения продукции, но и закрытию загрязняющих окружающую среду предприятий.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Методы государственного воздействия  на внешние эффекты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Во-вторых, государство может ввести налоги на вредные выбросы (в расчете на единицу готовой продукции). Эта мера уменьшает объем предложения продукции, приводящей к загрязнению окружающей среды.</a:t>
            </a:r>
          </a:p>
          <a:p>
            <a:r>
              <a:rPr lang="ru-RU" dirty="0" smtClean="0"/>
              <a:t>В-третьих, государство может организовать функционирование </a:t>
            </a:r>
            <a:r>
              <a:rPr lang="ru-RU" i="1" dirty="0" smtClean="0"/>
              <a:t>рынка прав на загрязнение окружающей среды. </a:t>
            </a:r>
            <a:endParaRPr lang="ru-RU" dirty="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Методы государственного воздействия  на внешние эффекты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07288" cy="5306144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Например, властями определяется допустимый уровень (стандарт) загрязнения и выпускаются сертификаты, позволяющие производить загрязнения, </a:t>
            </a:r>
            <a:r>
              <a:rPr lang="ru-RU" dirty="0" err="1" smtClean="0"/>
              <a:t>непревышающие</a:t>
            </a:r>
            <a:r>
              <a:rPr lang="ru-RU" dirty="0" smtClean="0"/>
              <a:t> этот уровень. </a:t>
            </a:r>
          </a:p>
          <a:p>
            <a:r>
              <a:rPr lang="ru-RU" dirty="0" smtClean="0"/>
              <a:t>Сертификаты (разрешения) свободно продаются и покупаются на аукционном рынке. </a:t>
            </a:r>
          </a:p>
          <a:p>
            <a:r>
              <a:rPr lang="ru-RU" dirty="0" smtClean="0"/>
              <a:t>В этом случае те предприятия, у которых снижение уровня загрязнения сопровождается большими производственными издержками, будут покупать эти сертификаты, а те предприятия, у которых снижение уровня загрязнения связано с небольшими издержками, вместо покупки разрешений будут действительно снижать уровень загрязнения.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Термин «общественные блага» (</a:t>
            </a:r>
            <a:r>
              <a:rPr lang="ru-RU" i="1" dirty="0" err="1" smtClean="0"/>
              <a:t>public</a:t>
            </a:r>
            <a:r>
              <a:rPr lang="ru-RU" i="1" dirty="0" smtClean="0"/>
              <a:t> </a:t>
            </a:r>
            <a:r>
              <a:rPr lang="ru-RU" i="1" dirty="0" err="1" smtClean="0"/>
              <a:t>goods</a:t>
            </a:r>
            <a:r>
              <a:rPr lang="ru-RU" i="1" dirty="0" smtClean="0"/>
              <a:t>) был введен в </a:t>
            </a:r>
            <a:r>
              <a:rPr lang="ru-RU" dirty="0" smtClean="0"/>
              <a:t>экономическую науку американскими экономистами - П. </a:t>
            </a:r>
            <a:r>
              <a:rPr lang="ru-RU" dirty="0" err="1" smtClean="0"/>
              <a:t>Самуэльсоном</a:t>
            </a:r>
            <a:r>
              <a:rPr lang="ru-RU" dirty="0" smtClean="0"/>
              <a:t> и Р. </a:t>
            </a:r>
            <a:r>
              <a:rPr lang="ru-RU" dirty="0" err="1" smtClean="0"/>
              <a:t>Масгрейвом</a:t>
            </a:r>
            <a:r>
              <a:rPr lang="ru-RU" dirty="0" smtClean="0"/>
              <a:t> - еще в 1950-х гг. </a:t>
            </a:r>
          </a:p>
          <a:p>
            <a:r>
              <a:rPr lang="ru-RU" dirty="0" smtClean="0"/>
              <a:t>У частного сектора нет стимулов производить эти блага, так как их потребляют все, </a:t>
            </a:r>
            <a:r>
              <a:rPr lang="ru-RU" i="1" dirty="0" smtClean="0"/>
              <a:t>независимо от того, платят ли они за это или нет.</a:t>
            </a:r>
          </a:p>
          <a:p>
            <a:r>
              <a:rPr lang="ru-RU" dirty="0" smtClean="0"/>
              <a:t>Анархия выступает как общественное </a:t>
            </a:r>
            <a:r>
              <a:rPr lang="ru-RU" dirty="0" err="1" smtClean="0"/>
              <a:t>антиблаго</a:t>
            </a:r>
            <a:r>
              <a:rPr lang="ru-RU" dirty="0" smtClean="0"/>
              <a:t>, и добровольно его никто не желает.</a:t>
            </a:r>
            <a:endParaRPr lang="ru-RU" i="1" dirty="0" smtClean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понятие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46104"/>
          </a:xfrm>
        </p:spPr>
        <p:txBody>
          <a:bodyPr>
            <a:normAutofit/>
          </a:bodyPr>
          <a:lstStyle/>
          <a:p>
            <a:r>
              <a:rPr lang="ru-RU" b="1" dirty="0" smtClean="0"/>
              <a:t>Общественные блага </a:t>
            </a:r>
            <a:r>
              <a:rPr lang="ru-RU" dirty="0" smtClean="0"/>
              <a:t>(национальная оборона, уличное освещение, прогноз погоды и т.п.) - это </a:t>
            </a:r>
            <a:r>
              <a:rPr lang="ru-RU" b="1" dirty="0" smtClean="0"/>
              <a:t>неделимые блага коллективного пользования. </a:t>
            </a:r>
          </a:p>
          <a:p>
            <a:r>
              <a:rPr lang="ru-RU" dirty="0" smtClean="0"/>
              <a:t>Они отличаются от частных благ тем, что обладают основными </a:t>
            </a:r>
            <a:r>
              <a:rPr lang="ru-RU" b="1" i="1" dirty="0" smtClean="0"/>
              <a:t>свойствами</a:t>
            </a:r>
            <a:r>
              <a:rPr lang="ru-RU" dirty="0" smtClean="0"/>
              <a:t>: </a:t>
            </a:r>
          </a:p>
          <a:p>
            <a:r>
              <a:rPr lang="ru-RU" i="1" dirty="0" err="1" smtClean="0"/>
              <a:t>несоперничеством</a:t>
            </a:r>
            <a:r>
              <a:rPr lang="ru-RU" i="1" dirty="0" smtClean="0"/>
              <a:t> </a:t>
            </a:r>
            <a:r>
              <a:rPr lang="ru-RU" dirty="0" smtClean="0"/>
              <a:t>в потреблении</a:t>
            </a:r>
            <a:r>
              <a:rPr lang="ru-RU" i="1" dirty="0" smtClean="0"/>
              <a:t>.</a:t>
            </a:r>
            <a:r>
              <a:rPr lang="ru-RU" dirty="0" smtClean="0"/>
              <a:t> </a:t>
            </a:r>
          </a:p>
          <a:p>
            <a:r>
              <a:rPr lang="ru-RU" i="1" dirty="0" err="1" smtClean="0"/>
              <a:t>неисключаемостью</a:t>
            </a:r>
            <a:r>
              <a:rPr lang="ru-RU" i="1" dirty="0" smtClean="0"/>
              <a:t> </a:t>
            </a:r>
            <a:r>
              <a:rPr lang="ru-RU" dirty="0" smtClean="0"/>
              <a:t>при их потреблении</a:t>
            </a:r>
          </a:p>
          <a:p>
            <a:r>
              <a:rPr lang="ru-RU" i="1" dirty="0" err="1" smtClean="0"/>
              <a:t>неизбирательность</a:t>
            </a:r>
            <a:r>
              <a:rPr lang="ru-RU" i="1" dirty="0" smtClean="0"/>
              <a:t> </a:t>
            </a:r>
            <a:r>
              <a:rPr lang="ru-RU" dirty="0" smtClean="0"/>
              <a:t>в потреблении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свойства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46104"/>
          </a:xfrm>
        </p:spPr>
        <p:txBody>
          <a:bodyPr>
            <a:normAutofit lnSpcReduction="10000"/>
          </a:bodyPr>
          <a:lstStyle/>
          <a:p>
            <a:r>
              <a:rPr lang="ru-RU" b="1" dirty="0" err="1" smtClean="0"/>
              <a:t>Несоперничество</a:t>
            </a:r>
            <a:r>
              <a:rPr lang="ru-RU" dirty="0" smtClean="0"/>
              <a:t> означает, что благо доступно одновременно многим потребителям, и предельные издержки его предоставления индивидуальному потребителю равны нулю.</a:t>
            </a:r>
          </a:p>
          <a:p>
            <a:r>
              <a:rPr lang="ru-RU" dirty="0" smtClean="0"/>
              <a:t>Под  </a:t>
            </a:r>
            <a:r>
              <a:rPr lang="ru-RU" b="1" dirty="0" err="1" smtClean="0"/>
              <a:t>неисключаемостью</a:t>
            </a:r>
            <a:r>
              <a:rPr lang="ru-RU" dirty="0" smtClean="0"/>
              <a:t> подразумевается техническая невозможность или </a:t>
            </a:r>
            <a:r>
              <a:rPr lang="ru-RU" dirty="0" err="1" smtClean="0"/>
              <a:t>запретительно</a:t>
            </a:r>
            <a:r>
              <a:rPr lang="ru-RU" dirty="0" smtClean="0"/>
              <a:t> высокие издержки предотвращения доступа к благу дополнительных потребителей. </a:t>
            </a:r>
          </a:p>
          <a:p>
            <a:r>
              <a:rPr lang="ru-RU" b="1" dirty="0" err="1" smtClean="0"/>
              <a:t>Неизбирательность</a:t>
            </a:r>
            <a:r>
              <a:rPr lang="ru-RU" dirty="0" smtClean="0"/>
              <a:t> (</a:t>
            </a:r>
            <a:r>
              <a:rPr lang="ru-RU" dirty="0" err="1" smtClean="0"/>
              <a:t>неконкурентность</a:t>
            </a:r>
            <a:r>
              <a:rPr lang="ru-RU" dirty="0" smtClean="0"/>
              <a:t>) – потребление блага одним человеком не уменьшает возможности его одновременного потребления другими людьми без дополнительных издержек.</a:t>
            </a:r>
          </a:p>
          <a:p>
            <a:endParaRPr lang="ru-RU" dirty="0" smtClean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виды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Блага, которым оба свойства присущи в высокой степени, называются </a:t>
            </a:r>
            <a:r>
              <a:rPr lang="ru-RU" b="1" dirty="0" smtClean="0"/>
              <a:t>чистыми общественными благами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Если хотя бы одно из указанных свойств проявляется лишь в ограниченной степени, благо называют </a:t>
            </a:r>
            <a:r>
              <a:rPr lang="ru-RU" b="1" dirty="0" err="1" smtClean="0"/>
              <a:t>квазиобщественным</a:t>
            </a:r>
            <a:r>
              <a:rPr lang="ru-RU" b="1" dirty="0" smtClean="0"/>
              <a:t> (смешанным) общественным благом. </a:t>
            </a:r>
          </a:p>
          <a:p>
            <a:r>
              <a:rPr lang="ru-RU" dirty="0" smtClean="0"/>
              <a:t>Для смешанных общественных благ чаще всего характерно, что размеры "пучка" услуг, которые фактически могут быть реализованы за плату, меньше потенциального количества услуг, которое в принципе способно обеспечить данное благо.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Перечень благ, предоставляемых общественным сектором в Российской Федерации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95536" y="1397000"/>
          <a:ext cx="856895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2768"/>
                <a:gridCol w="1656184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 блага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Характер блага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Национальная оборона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Обеспечение национальной безопасности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Осуществление международной деятельности в общефедеральных интересах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Поддержание денежной системы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Санитарно-эпидемиологическая служба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Развитие атомной энергетики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Развитие железнодорожного, воздушного и морского транспорта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Официальный статистический учет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Чисто общественное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Обеспечение службы противопожарной безопасности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Утилизация отходов в городах </a:t>
                      </a:r>
                      <a:endParaRPr lang="ru-RU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Организация жилищно-коммунального хозяйства Обеспечение системы правоохранительной деятельности </a:t>
                      </a:r>
                      <a:endParaRPr lang="ru-RU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Смешанное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Перечень благ, предоставляемых общественным сектором в Российской Федерации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395536" y="1397000"/>
          <a:ext cx="8496944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3838"/>
                <a:gridCol w="1573106"/>
              </a:tblGrid>
              <a:tr h="370840"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Наименование блага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err="1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ХарактерСмешанное</a:t>
                      </a:r>
                      <a:r>
                        <a:rPr kumimoji="0" lang="ru-RU" sz="1800" b="1" kern="1200" baseline="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блага</a:t>
                      </a:r>
                      <a:endParaRPr lang="ru-R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Развитие рыночной инфраструктуры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Развитие промышленного производства, сельского хозяйства, автомобильного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 речного транспорта, связи и дорожного хозяйства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Организация специального образования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Организация здравоохранения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Научно-исследовательские работы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Обеспечение социальной защиты членов общества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Охрана окружающей среды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Гидрометеорологическая служба</a:t>
                      </a:r>
                    </a:p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Содержание объектов социально-культурной сферы (музеи, библиотеки, стадионы, парки)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Смешанное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Некоммерческий сектор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ru-RU" sz="2800" dirty="0" smtClean="0"/>
              <a:t>Если государство и органы местного самоуправления не поставляют в необходимом объеме чистые и смешанные общественные блага, активизируется процесс самоорганизации экономических субъектов в различные общественные организации, образующие «третий» сектор экономики. </a:t>
            </a:r>
            <a:endParaRPr lang="ru-RU" sz="2800" smtClean="0"/>
          </a:p>
          <a:p>
            <a:r>
              <a:rPr lang="ru-RU" sz="2800" smtClean="0"/>
              <a:t>Участие </a:t>
            </a:r>
            <a:r>
              <a:rPr lang="ru-RU" sz="2800" dirty="0" smtClean="0"/>
              <a:t>некоммерческих организаций становится  целесообразным для компенсации недопроизводства и недопоставки ряда благ, необходимых обществу.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Кривая спроса на общественное благо имеет отрицательный наклон в соответствии с убыванием предельной полезности от каждой единицы блага. </a:t>
            </a:r>
          </a:p>
          <a:p>
            <a:r>
              <a:rPr lang="ru-RU" sz="2800" dirty="0" smtClean="0"/>
              <a:t>Так как общественное благо неделимо, то каждый индивид потребляет весь объем этого блага, а не какую-то его часть.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Спрос на общественное благо (рис. 1)</a:t>
            </a:r>
            <a:endParaRPr lang="ru-RU" dirty="0"/>
          </a:p>
        </p:txBody>
      </p:sp>
      <p:pic>
        <p:nvPicPr>
          <p:cNvPr id="41986" name="Picture 2" descr="http://works.doklad.ru/images/j_65vDVmfs8/m3cb9b1a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556792"/>
            <a:ext cx="6953250" cy="36957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виды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Общественные блага бывают  </a:t>
            </a:r>
            <a:r>
              <a:rPr lang="ru-RU" b="1" dirty="0" smtClean="0"/>
              <a:t>общенациональными</a:t>
            </a:r>
            <a:r>
              <a:rPr lang="ru-RU" dirty="0" smtClean="0"/>
              <a:t> и  </a:t>
            </a:r>
            <a:r>
              <a:rPr lang="ru-RU" b="1" dirty="0" smtClean="0"/>
              <a:t>локальными</a:t>
            </a:r>
            <a:r>
              <a:rPr lang="ru-RU" dirty="0" smtClean="0"/>
              <a:t>. Различие  определяется разницей в территориальном охвате полезным действием того или  иного блага. </a:t>
            </a:r>
          </a:p>
          <a:p>
            <a:r>
              <a:rPr lang="ru-RU" dirty="0" smtClean="0"/>
              <a:t>С одной стороны, национальная оборона или законодательство – это общенациональные общественные блага и, с другой стороны, услуга регулировщика уличного  движения – локальное общественное благо.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dirty="0" smtClean="0"/>
              <a:t>Глобальные 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306144"/>
          </a:xfrm>
        </p:spPr>
        <p:txBody>
          <a:bodyPr>
            <a:normAutofit/>
          </a:bodyPr>
          <a:lstStyle/>
          <a:p>
            <a:r>
              <a:rPr lang="ru-RU" dirty="0" smtClean="0"/>
              <a:t>Блага ,  выгоды (издержки) от создания которых распространяются поверх государственных , общественных и </a:t>
            </a:r>
            <a:r>
              <a:rPr lang="ru-RU" dirty="0" err="1" smtClean="0"/>
              <a:t>поколенческих</a:t>
            </a:r>
            <a:r>
              <a:rPr lang="ru-RU" dirty="0" smtClean="0"/>
              <a:t> границ. По меньшей мере ,  эти выгоды (издержки) должны распространяться на более чем одну группу стран и не должны оказывать дискриминационное воздействие на какие-либо группы населения.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84312"/>
          </a:xfrm>
        </p:spPr>
        <p:txBody>
          <a:bodyPr>
            <a:normAutofit/>
          </a:bodyPr>
          <a:lstStyle/>
          <a:p>
            <a:r>
              <a:rPr lang="ru-RU" dirty="0" smtClean="0"/>
              <a:t>Глобальные 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306144"/>
          </a:xfrm>
        </p:spPr>
        <p:txBody>
          <a:bodyPr>
            <a:normAutofit/>
          </a:bodyPr>
          <a:lstStyle/>
          <a:p>
            <a:r>
              <a:rPr lang="ru-RU" dirty="0" smtClean="0"/>
              <a:t>К глобальным общественным благам  относят:</a:t>
            </a:r>
          </a:p>
          <a:p>
            <a:r>
              <a:rPr lang="ru-RU" dirty="0" smtClean="0"/>
              <a:t>поддержание мира, </a:t>
            </a:r>
          </a:p>
          <a:p>
            <a:r>
              <a:rPr lang="ru-RU" dirty="0" smtClean="0"/>
              <a:t>господство либеральных норм ведения экономических операций, </a:t>
            </a:r>
          </a:p>
          <a:p>
            <a:r>
              <a:rPr lang="ru-RU" dirty="0" smtClean="0"/>
              <a:t>стабильность международной торговой и финансовой системы; </a:t>
            </a:r>
          </a:p>
          <a:p>
            <a:r>
              <a:rPr lang="ru-RU" dirty="0" smtClean="0"/>
              <a:t>достижение экономического равенства в международном масштабе, </a:t>
            </a:r>
          </a:p>
          <a:p>
            <a:r>
              <a:rPr lang="ru-RU" dirty="0" smtClean="0"/>
              <a:t>предоставление всем жителям планеты надлежащего уровня услуг по охране здоровья и т.д.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виды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937760"/>
          </a:xfrm>
        </p:spPr>
        <p:txBody>
          <a:bodyPr>
            <a:normAutofit/>
          </a:bodyPr>
          <a:lstStyle/>
          <a:p>
            <a:r>
              <a:rPr lang="ru-RU" dirty="0" smtClean="0"/>
              <a:t>Своеобразное промежуточное положение между частными и общественными  благами занимают </a:t>
            </a:r>
            <a:r>
              <a:rPr lang="ru-RU" b="1" dirty="0" smtClean="0"/>
              <a:t>блага, обладающие особыми достоинствами</a:t>
            </a:r>
            <a:r>
              <a:rPr lang="ru-RU" dirty="0" smtClean="0"/>
              <a:t>,  или  социально  значимые блага.</a:t>
            </a:r>
          </a:p>
          <a:p>
            <a:r>
              <a:rPr lang="ru-RU" dirty="0" smtClean="0"/>
              <a:t>Например, профилактическая прививка представляет собой услугу, которая оказывается конкретном у индивиду – она уменьшает вероятность не только заболевания его самого, но и,  в конечном счете, вероятность возникновения эпидемии.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блага: виды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937760"/>
          </a:xfrm>
        </p:spPr>
        <p:txBody>
          <a:bodyPr>
            <a:normAutofit/>
          </a:bodyPr>
          <a:lstStyle/>
          <a:p>
            <a:r>
              <a:rPr lang="ru-RU" dirty="0" smtClean="0"/>
              <a:t>В силу наличия </a:t>
            </a:r>
            <a:r>
              <a:rPr lang="ru-RU" i="1" u="sng" dirty="0" smtClean="0"/>
              <a:t>положительного внешнего эффекта </a:t>
            </a:r>
            <a:r>
              <a:rPr lang="ru-RU" dirty="0" smtClean="0"/>
              <a:t>оптимальный уровень производства такого рода благ не достигается за счет одной лишь заинтересованности непосредственных  потребителей в их приобретении.</a:t>
            </a:r>
          </a:p>
          <a:p>
            <a:r>
              <a:rPr lang="ru-RU" dirty="0" smtClean="0"/>
              <a:t>Потребление благ, обладающих особыми достоинствами, зачастую субсидируется государством, а иногда и полностью финансируется за счет общественных средств или даже является принудительным.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Спрос на 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sz="2800" b="1" dirty="0" smtClean="0"/>
              <a:t>Предельная полезность общественного блага </a:t>
            </a:r>
            <a:r>
              <a:rPr lang="ru-RU" sz="2800" dirty="0" smtClean="0"/>
              <a:t>для индивида, выраженная в денежной форме, представляет собой предельную готовность платить за данное количество этого блага. Именно она и подразумевается, когда речь идет о спросе.</a:t>
            </a:r>
          </a:p>
          <a:p>
            <a:r>
              <a:rPr lang="ru-RU" sz="2800" dirty="0" smtClean="0"/>
              <a:t>Поэтому при расчете общей выгоды от потребления общественного блага применяется вертикальное суммирование цен каждого потребителя при заданном объеме блага. 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Спрос на общественное благо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Общественное  благо в  одном  и  том  же  количестве достается  каждому  из потребителей. </a:t>
            </a:r>
          </a:p>
          <a:p>
            <a:r>
              <a:rPr lang="ru-RU" dirty="0" smtClean="0"/>
              <a:t>Различия в предпочтениях  проявляются в том, что индивиды проявляют разную предельную готовность  платить  за  данное  количество  блага.</a:t>
            </a:r>
          </a:p>
          <a:p>
            <a:r>
              <a:rPr lang="ru-RU" dirty="0" smtClean="0"/>
              <a:t>Неодинаковые  платежи возможны, поскольку требуется лишь, чтобы индивидуальные платежи, в носимые каждым из  потребителей за  общественное  благо, </a:t>
            </a:r>
            <a:r>
              <a:rPr lang="ru-RU" b="1" i="1" dirty="0" smtClean="0"/>
              <a:t>в сумме  </a:t>
            </a:r>
            <a:r>
              <a:rPr lang="ru-RU" dirty="0" smtClean="0"/>
              <a:t>покрывали издержки его  производства. </a:t>
            </a:r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51520" y="228600"/>
            <a:ext cx="8640960" cy="536104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Частное равновесие на рынке общественных благ</a:t>
            </a:r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2"/>
          </p:nvPr>
        </p:nvSpPr>
        <p:spPr>
          <a:xfrm>
            <a:off x="4499992" y="836712"/>
            <a:ext cx="4392488" cy="5317200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Оптимальный объем предоставления общественного блага (Q*). </a:t>
            </a:r>
          </a:p>
          <a:p>
            <a:r>
              <a:rPr lang="ru-RU" dirty="0" smtClean="0"/>
              <a:t>D</a:t>
            </a:r>
            <a:r>
              <a:rPr lang="ru-RU" sz="2200" dirty="0" smtClean="0"/>
              <a:t>A</a:t>
            </a:r>
            <a:r>
              <a:rPr lang="ru-RU" dirty="0" smtClean="0"/>
              <a:t>  - линия спроса потребителя А; </a:t>
            </a:r>
          </a:p>
          <a:p>
            <a:r>
              <a:rPr lang="ru-RU" dirty="0" smtClean="0"/>
              <a:t>D</a:t>
            </a:r>
            <a:r>
              <a:rPr lang="ru-RU" sz="2200" dirty="0" smtClean="0"/>
              <a:t>И</a:t>
            </a:r>
            <a:r>
              <a:rPr lang="ru-RU" dirty="0" smtClean="0"/>
              <a:t> – линия спроса потребителя И; </a:t>
            </a:r>
          </a:p>
          <a:p>
            <a:r>
              <a:rPr lang="ru-RU" dirty="0" smtClean="0"/>
              <a:t>D</a:t>
            </a:r>
            <a:r>
              <a:rPr lang="ru-RU" sz="2200" dirty="0" smtClean="0"/>
              <a:t>A+И</a:t>
            </a:r>
            <a:r>
              <a:rPr lang="ru-RU" dirty="0" smtClean="0"/>
              <a:t> – линия суммарного спроса (вертикальное суммирование цен благодаря свойству </a:t>
            </a:r>
            <a:r>
              <a:rPr lang="ru-RU" dirty="0" err="1" smtClean="0"/>
              <a:t>неизбирательности</a:t>
            </a:r>
            <a:r>
              <a:rPr lang="ru-RU" dirty="0" smtClean="0"/>
              <a:t> (</a:t>
            </a:r>
            <a:r>
              <a:rPr lang="ru-RU" dirty="0" err="1" smtClean="0"/>
              <a:t>неконкурентности</a:t>
            </a:r>
            <a:r>
              <a:rPr lang="ru-RU" dirty="0" smtClean="0"/>
              <a:t>) общественных благ; </a:t>
            </a:r>
          </a:p>
          <a:p>
            <a:r>
              <a:rPr lang="en-US" dirty="0" smtClean="0"/>
              <a:t>S –</a:t>
            </a:r>
            <a:r>
              <a:rPr lang="ru-RU" dirty="0" smtClean="0"/>
              <a:t> линия предложения. </a:t>
            </a:r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Picture 2" descr="http://50.economicus.ru/img/50_46_f2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7428" y="1124744"/>
            <a:ext cx="4302288" cy="440341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Частное равновесие на рынке общественных благ (рис. 2)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200" dirty="0" smtClean="0"/>
              <a:t>Условие частного равновесия (т. Е) на отдельном рынке общественного блага ): </a:t>
            </a:r>
          </a:p>
          <a:p>
            <a:pPr algn="ctr">
              <a:buNone/>
            </a:pPr>
            <a:r>
              <a:rPr lang="ru-RU" sz="3200" b="1" dirty="0" smtClean="0"/>
              <a:t>Σ </a:t>
            </a:r>
            <a:r>
              <a:rPr lang="ru-RU" sz="3200" b="1" dirty="0" err="1" smtClean="0"/>
              <a:t>pi</a:t>
            </a:r>
            <a:r>
              <a:rPr lang="ru-RU" sz="3200" b="1" dirty="0" smtClean="0"/>
              <a:t>(Q) = MSC(Q), </a:t>
            </a:r>
          </a:p>
          <a:p>
            <a:r>
              <a:rPr lang="ru-RU" sz="3200" dirty="0" smtClean="0"/>
              <a:t>где </a:t>
            </a:r>
            <a:r>
              <a:rPr lang="ru-RU" sz="3200" dirty="0" err="1" smtClean="0"/>
              <a:t>pi</a:t>
            </a:r>
            <a:r>
              <a:rPr lang="ru-RU" sz="3200" dirty="0" smtClean="0"/>
              <a:t> – цена ,  которую готов заплатить </a:t>
            </a:r>
            <a:r>
              <a:rPr lang="ru-RU" sz="3200" dirty="0" err="1" smtClean="0"/>
              <a:t>i-тый</a:t>
            </a:r>
            <a:r>
              <a:rPr lang="ru-RU" sz="3200" dirty="0" smtClean="0"/>
              <a:t> потребитель; </a:t>
            </a:r>
          </a:p>
          <a:p>
            <a:r>
              <a:rPr lang="ru-RU" sz="3200" dirty="0" smtClean="0"/>
              <a:t>MSC – предельные общественные затраты; </a:t>
            </a:r>
          </a:p>
          <a:p>
            <a:r>
              <a:rPr lang="ru-RU" sz="3200" dirty="0" smtClean="0"/>
              <a:t>Q – оптимальный объем общественного блага.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Общее равновесие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Пусть в экономике производятся только два блага – частное (P)  и общественное (G).  Имеются два потребителя (A  и  B)  со своими функциями полезности,  которым соответствуют кривые безразличия UA  и UB.  Функция трансформации представлена на графике кривой производственных возможностей Z1Z2 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8112"/>
          </a:xfrm>
        </p:spPr>
        <p:txBody>
          <a:bodyPr>
            <a:normAutofit/>
          </a:bodyPr>
          <a:lstStyle/>
          <a:p>
            <a:r>
              <a:rPr lang="ru-RU" dirty="0" smtClean="0"/>
              <a:t>Общее равновесие (рис. 3)</a:t>
            </a:r>
            <a:endParaRPr lang="ru-RU" dirty="0"/>
          </a:p>
        </p:txBody>
      </p:sp>
      <p:pic>
        <p:nvPicPr>
          <p:cNvPr id="43010" name="Picture 2" descr="http://www.studfiles.ru/html/2706/275/html_7xL2565Wrk.TOWJ/htmlconvd-od8jr4_html_m2189046e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3303" y="836712"/>
            <a:ext cx="8473153" cy="593287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Общее равновесие</a:t>
            </a:r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Тогда при заданных Z1Z2  и полезности А (</a:t>
            </a:r>
            <a:r>
              <a:rPr lang="ru-RU" dirty="0" err="1" smtClean="0"/>
              <a:t>Ua</a:t>
            </a:r>
            <a:r>
              <a:rPr lang="ru-RU" dirty="0" smtClean="0"/>
              <a:t>),  можно найти количество частного блага P,  доступного второму индивиду, B.  </a:t>
            </a:r>
          </a:p>
          <a:p>
            <a:r>
              <a:rPr lang="ru-RU" dirty="0" smtClean="0"/>
              <a:t>Весь объем общественного блага доступен обоим индивидам ,  благодаря его </a:t>
            </a:r>
            <a:r>
              <a:rPr lang="ru-RU" dirty="0" err="1" smtClean="0"/>
              <a:t>неконкурентности</a:t>
            </a:r>
            <a:r>
              <a:rPr lang="ru-RU" dirty="0" smtClean="0"/>
              <a:t>.  На рис.б граница набора потребительских  возможностей индивида B  обозначена C1C2.  Она получена как вертикальная разность между кривой производственных возможностей Z1Z2  и зафиксированной кривой безразличия потребителя A.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90120"/>
          </a:xfrm>
        </p:spPr>
        <p:txBody>
          <a:bodyPr>
            <a:normAutofit fontScale="92500"/>
          </a:bodyPr>
          <a:lstStyle/>
          <a:p>
            <a:r>
              <a:rPr lang="ru-RU" dirty="0" smtClean="0"/>
              <a:t>Проблема предоставления общественного блага в результате добровольного соглашения анализируется в модели добровольного обмена. </a:t>
            </a:r>
          </a:p>
          <a:p>
            <a:r>
              <a:rPr lang="ru-RU" i="1" dirty="0" smtClean="0"/>
              <a:t>Модель добровольного обмена – </a:t>
            </a:r>
            <a:r>
              <a:rPr lang="ru-RU" dirty="0" smtClean="0"/>
              <a:t>подход к анализу предоставления общественных благ, при котором предпринимается попытка установления таких условий, при которых эти товары могут предоставляться на основе консенсуса, то есть без принуждения. </a:t>
            </a:r>
          </a:p>
          <a:p>
            <a:r>
              <a:rPr lang="ru-RU" dirty="0" smtClean="0"/>
              <a:t>Такой подход отличается от общепринятой практики, при которой предоставление общественных благ финансируется путём обязательного налогообложения, а не в результате добровольного соглашения. </a:t>
            </a:r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Добровольный подход был впервые предложен шведским экономистом Кнутом </a:t>
            </a:r>
            <a:r>
              <a:rPr lang="ru-RU" dirty="0" err="1" smtClean="0"/>
              <a:t>Викселем</a:t>
            </a:r>
            <a:r>
              <a:rPr lang="ru-RU" dirty="0" smtClean="0"/>
              <a:t> (1851-1926), который утверждал, что каждое общественное благо должно финансироваться за счет особого налога и что необходимо единогласие всех членов общества относительно количества, в котором это благо будет предоставляться. </a:t>
            </a:r>
          </a:p>
          <a:p>
            <a:r>
              <a:rPr lang="ru-RU" dirty="0" smtClean="0"/>
              <a:t>Анализ </a:t>
            </a:r>
            <a:r>
              <a:rPr lang="ru-RU" dirty="0" err="1" smtClean="0"/>
              <a:t>Викселя</a:t>
            </a:r>
            <a:r>
              <a:rPr lang="ru-RU" dirty="0" smtClean="0"/>
              <a:t> был расширен другим шведским экономистом Эриком </a:t>
            </a:r>
            <a:r>
              <a:rPr lang="ru-RU" dirty="0" err="1" smtClean="0"/>
              <a:t>Линдалем</a:t>
            </a:r>
            <a:r>
              <a:rPr lang="ru-RU" dirty="0" smtClean="0"/>
              <a:t> (1891-1960), представившим модель, в которой и размер налога, и объем предоставляемого блага являются предметом обсуждения.</a:t>
            </a:r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8112"/>
          </a:xfrm>
        </p:spPr>
        <p:txBody>
          <a:bodyPr/>
          <a:lstStyle/>
          <a:p>
            <a:r>
              <a:rPr lang="ru-RU" dirty="0" smtClean="0"/>
              <a:t>Равновесие </a:t>
            </a:r>
            <a:r>
              <a:rPr lang="ru-RU" dirty="0" err="1" smtClean="0"/>
              <a:t>Линдаля</a:t>
            </a:r>
            <a:r>
              <a:rPr lang="ru-RU" dirty="0" smtClean="0"/>
              <a:t> (рис. 4)</a:t>
            </a:r>
            <a:endParaRPr lang="ru-RU" dirty="0"/>
          </a:p>
        </p:txBody>
      </p:sp>
      <p:pic>
        <p:nvPicPr>
          <p:cNvPr id="6150" name="Picture 6" descr="http://www.studfiles.ru/html/2706/275/html_7xL2565Wrk.TOWJ/htmlconvd-od8jr4_html_m41972455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7052" y="1052736"/>
            <a:ext cx="5209243" cy="505191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2304"/>
          </a:xfrm>
        </p:spPr>
        <p:txBody>
          <a:bodyPr/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r>
              <a:rPr lang="ru-RU" dirty="0" smtClean="0"/>
              <a:t> (рис. 4)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229600" cy="5104224"/>
          </a:xfrm>
        </p:spPr>
        <p:txBody>
          <a:bodyPr>
            <a:normAutofit/>
          </a:bodyPr>
          <a:lstStyle/>
          <a:p>
            <a:r>
              <a:rPr lang="ru-RU" dirty="0" smtClean="0"/>
              <a:t>Общество состоит из двух лиц (А и В), которые должны совместно оплатить фактически потребляемое количество общественного блага. </a:t>
            </a:r>
          </a:p>
          <a:p>
            <a:r>
              <a:rPr lang="ru-RU" dirty="0" smtClean="0"/>
              <a:t>По оси </a:t>
            </a:r>
            <a:r>
              <a:rPr lang="ru-RU" dirty="0" err="1" smtClean="0"/>
              <a:t>абцисс</a:t>
            </a:r>
            <a:r>
              <a:rPr lang="ru-RU" dirty="0" smtClean="0"/>
              <a:t> измеряется количество общественного блага (G), а по оси ординат - доля каждого из индивидов в полной величине налога. </a:t>
            </a:r>
          </a:p>
          <a:p>
            <a:r>
              <a:rPr lang="ru-RU" dirty="0" err="1" smtClean="0"/>
              <a:t>f</a:t>
            </a:r>
            <a:r>
              <a:rPr lang="ru-RU" dirty="0" smtClean="0"/>
              <a:t> - доля платежа (налога), уплачиваемого индивидом А, тогда доля индивида В составляет (1–</a:t>
            </a:r>
            <a:r>
              <a:rPr lang="ru-RU" dirty="0" err="1" smtClean="0"/>
              <a:t>f</a:t>
            </a:r>
            <a:r>
              <a:rPr lang="ru-RU" dirty="0" smtClean="0"/>
              <a:t>). Доля налога, выплачиваемого А, возрастает снизу вверх, а уплачиваемого В, - сверху вниз.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2304"/>
          </a:xfrm>
        </p:spPr>
        <p:txBody>
          <a:bodyPr/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r>
              <a:rPr lang="ru-RU" dirty="0" smtClean="0"/>
              <a:t> (рис. 4)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457200" y="1052736"/>
            <a:ext cx="8229600" cy="5104224"/>
          </a:xfrm>
        </p:spPr>
        <p:txBody>
          <a:bodyPr>
            <a:normAutofit/>
          </a:bodyPr>
          <a:lstStyle/>
          <a:p>
            <a:r>
              <a:rPr lang="ru-RU" dirty="0" smtClean="0"/>
              <a:t>Кривые </a:t>
            </a:r>
            <a:r>
              <a:rPr lang="ru-RU" dirty="0" err="1" smtClean="0"/>
              <a:t>псевдоспроса</a:t>
            </a:r>
            <a:r>
              <a:rPr lang="ru-RU" dirty="0" smtClean="0"/>
              <a:t> D</a:t>
            </a:r>
            <a:r>
              <a:rPr lang="ru-RU" baseline="-25000" dirty="0" smtClean="0"/>
              <a:t>A</a:t>
            </a:r>
            <a:r>
              <a:rPr lang="ru-RU" dirty="0" smtClean="0"/>
              <a:t> и D</a:t>
            </a:r>
            <a:r>
              <a:rPr lang="ru-RU" baseline="-25000" dirty="0" smtClean="0"/>
              <a:t>B</a:t>
            </a:r>
            <a:r>
              <a:rPr lang="ru-RU" dirty="0" smtClean="0"/>
              <a:t> являются функциями готовности А и В платить за общественное благо.</a:t>
            </a:r>
          </a:p>
          <a:p>
            <a:r>
              <a:rPr lang="ru-RU" dirty="0" smtClean="0"/>
              <a:t>Кривая </a:t>
            </a:r>
            <a:r>
              <a:rPr lang="ru-RU" dirty="0" err="1" smtClean="0"/>
              <a:t>D</a:t>
            </a:r>
            <a:r>
              <a:rPr lang="ru-RU" baseline="-25000" dirty="0" err="1" smtClean="0"/>
              <a:t>A</a:t>
            </a:r>
            <a:r>
              <a:rPr lang="ru-RU" dirty="0" err="1" smtClean="0"/>
              <a:t>показывает</a:t>
            </a:r>
            <a:r>
              <a:rPr lang="ru-RU" dirty="0" smtClean="0"/>
              <a:t> количество блага, которое хотел бы иметь А при различных долях налога. По мере того, как доля затрат А падает, его желаемый уровень предоставления блага растет. </a:t>
            </a:r>
          </a:p>
          <a:p>
            <a:r>
              <a:rPr lang="ru-RU" dirty="0" smtClean="0"/>
              <a:t>Кривая D</a:t>
            </a:r>
            <a:r>
              <a:rPr lang="ru-RU" baseline="-25000" dirty="0" smtClean="0"/>
              <a:t>B</a:t>
            </a:r>
            <a:r>
              <a:rPr lang="ru-RU" dirty="0" smtClean="0"/>
              <a:t> показывает предпочтения В (началом координат для В является верхний левый угол диаграммы). И снова по мере снижения затрат желаемое количество растет.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12304"/>
          </a:xfrm>
        </p:spPr>
        <p:txBody>
          <a:bodyPr/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r>
              <a:rPr lang="ru-RU" dirty="0" smtClean="0"/>
              <a:t> (рис. 4)</a:t>
            </a:r>
            <a:endParaRPr lang="ru-RU" dirty="0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320248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Допустим, что рассматривается вариант, при котором доля первого индивида в платеже за общественное благо составляет </a:t>
            </a:r>
            <a:r>
              <a:rPr lang="ru-RU" dirty="0" err="1" smtClean="0"/>
              <a:t>f</a:t>
            </a:r>
            <a:r>
              <a:rPr lang="ru-RU" dirty="0" smtClean="0"/>
              <a:t>', а второго – (1 –</a:t>
            </a:r>
            <a:r>
              <a:rPr lang="ru-RU" dirty="0" err="1" smtClean="0"/>
              <a:t>f</a:t>
            </a:r>
            <a:r>
              <a:rPr lang="ru-RU" dirty="0" smtClean="0"/>
              <a:t>')При таком распределении платежа спрос индивида A на общественное благо составлял бы G</a:t>
            </a:r>
            <a:r>
              <a:rPr lang="ru-RU" baseline="-25000" dirty="0" smtClean="0"/>
              <a:t>1</a:t>
            </a:r>
            <a:r>
              <a:rPr lang="ru-RU" dirty="0" smtClean="0"/>
              <a:t>, а спрос второго - G</a:t>
            </a:r>
            <a:r>
              <a:rPr lang="ru-RU" baseline="-25000" dirty="0" smtClean="0"/>
              <a:t>2.</a:t>
            </a:r>
            <a:r>
              <a:rPr lang="ru-RU" dirty="0" smtClean="0"/>
              <a:t> </a:t>
            </a:r>
          </a:p>
          <a:p>
            <a:r>
              <a:rPr lang="ru-RU" dirty="0" smtClean="0"/>
              <a:t>И согласованное решение не было бы достигнуто. Каждый из индивидов (или каждая из групп) блокировал бы невыгодное для себя решение, так что добровольное производство общественного блага, по-видимому, не имело бы места. </a:t>
            </a:r>
          </a:p>
          <a:p>
            <a:r>
              <a:rPr lang="ru-RU" dirty="0" smtClean="0"/>
              <a:t>Но если потребители не скрывают своих предпочтений, они найдут точку равновесия E, удовлетворяющую обоих. При этом общественное благо будет производиться в количестве G</a:t>
            </a:r>
            <a:r>
              <a:rPr lang="ru-RU" baseline="30000" dirty="0" smtClean="0"/>
              <a:t>*</a:t>
            </a:r>
            <a:r>
              <a:rPr lang="ru-RU" dirty="0" smtClean="0"/>
              <a:t>, первому потребителю придется уплачивать долю </a:t>
            </a:r>
            <a:r>
              <a:rPr lang="ru-RU" dirty="0" err="1" smtClean="0"/>
              <a:t>f</a:t>
            </a:r>
            <a:r>
              <a:rPr lang="ru-RU" baseline="30000" dirty="0" smtClean="0"/>
              <a:t>*</a:t>
            </a:r>
            <a:r>
              <a:rPr lang="ru-RU" dirty="0" smtClean="0"/>
              <a:t>совокупного объема финансирования действий по производству данного блага, а доля второго потребителя составит (1 – </a:t>
            </a:r>
            <a:r>
              <a:rPr lang="ru-RU" dirty="0" err="1" smtClean="0"/>
              <a:t>f</a:t>
            </a:r>
            <a:r>
              <a:rPr lang="ru-RU" baseline="30000" dirty="0" smtClean="0"/>
              <a:t>*</a:t>
            </a:r>
            <a:r>
              <a:rPr lang="ru-RU" dirty="0" smtClean="0"/>
              <a:t>).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Модель </a:t>
            </a:r>
            <a:r>
              <a:rPr lang="ru-RU" dirty="0" err="1" smtClean="0"/>
              <a:t>Линдаля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 модели </a:t>
            </a:r>
            <a:r>
              <a:rPr lang="ru-RU" dirty="0" err="1" smtClean="0"/>
              <a:t>Линдаля</a:t>
            </a:r>
            <a:r>
              <a:rPr lang="ru-RU" dirty="0" smtClean="0"/>
              <a:t> для достижения равновесия необходимо, чтобы выплачиваемая каждым индивидом ставка налога была точно равна предельной ценности блага для этого индивида. Такие ставки называют </a:t>
            </a:r>
            <a:r>
              <a:rPr lang="ru-RU" i="1" dirty="0" smtClean="0"/>
              <a:t>ценами </a:t>
            </a:r>
            <a:r>
              <a:rPr lang="ru-RU" i="1" dirty="0" err="1" smtClean="0"/>
              <a:t>Линдаля</a:t>
            </a:r>
            <a:r>
              <a:rPr lang="ru-RU" dirty="0" smtClean="0"/>
              <a:t>, а равновесие, достигаемое при этих ценах, называется </a:t>
            </a:r>
            <a:r>
              <a:rPr lang="ru-RU" i="1" dirty="0" smtClean="0"/>
              <a:t>равновесием </a:t>
            </a:r>
            <a:r>
              <a:rPr lang="ru-RU" i="1" dirty="0" err="1" smtClean="0"/>
              <a:t>Линдаля</a:t>
            </a:r>
            <a:r>
              <a:rPr lang="ru-RU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Равновесие в сфере производства общественных благ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Рисунок 4 иллюстрирует достижение равновесие </a:t>
            </a:r>
            <a:r>
              <a:rPr lang="ru-RU" dirty="0" err="1" smtClean="0"/>
              <a:t>Линдаля</a:t>
            </a:r>
            <a:r>
              <a:rPr lang="ru-RU" dirty="0" smtClean="0"/>
              <a:t> при допущении, что индивиды не скрывают друг от друга свои функции готовности платить за общественные блага. Тогда </a:t>
            </a:r>
            <a:r>
              <a:rPr lang="ru-RU" dirty="0" err="1" smtClean="0"/>
              <a:t>Парето-эффективное</a:t>
            </a:r>
            <a:r>
              <a:rPr lang="ru-RU" dirty="0" smtClean="0"/>
              <a:t> состояние равновесия в сфере производства этих благ могло бы быть, в принципе, достигнуто на основе единодушного решения потребителей.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Условие </a:t>
            </a:r>
            <a:r>
              <a:rPr lang="ru-RU" dirty="0" err="1" smtClean="0"/>
              <a:t>Самуэльсона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 smtClean="0"/>
              <a:t>При оптимальном производстве общественного блага предельная норма трансформации этого блага в частное равна сумме предельных норм замещения двух благ для всех индивидов, участвующих в их потреблении. </a:t>
            </a:r>
            <a:r>
              <a:rPr lang="ru-RU" dirty="0" smtClean="0"/>
              <a:t>Это утверждение называется </a:t>
            </a:r>
            <a:r>
              <a:rPr lang="ru-RU" i="1" dirty="0" smtClean="0"/>
              <a:t>условием </a:t>
            </a:r>
            <a:r>
              <a:rPr lang="ru-RU" i="1" dirty="0" err="1" smtClean="0"/>
              <a:t>Самуэльсона</a:t>
            </a:r>
            <a:r>
              <a:rPr lang="ru-RU" dirty="0" smtClean="0"/>
              <a:t> для Парето оптимального производства общественных благ. </a:t>
            </a:r>
          </a:p>
          <a:p>
            <a:r>
              <a:rPr lang="ru-RU" dirty="0" smtClean="0"/>
              <a:t>Это условие интуитивно понятно и в рамках теории частичного равновесия. Равенство суммы предельных ценностей (суммы индивидуальных кривых «спроса» на общественное благо по вертикали) предельным издержкам – это и есть условие </a:t>
            </a:r>
            <a:r>
              <a:rPr lang="ru-RU" dirty="0" err="1" smtClean="0"/>
              <a:t>Самуэльсона</a:t>
            </a:r>
            <a:r>
              <a:rPr lang="ru-RU" dirty="0" smtClean="0"/>
              <a:t> в неявном виде.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4029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Условие </a:t>
            </a:r>
            <a:r>
              <a:rPr lang="ru-RU" dirty="0" err="1" smtClean="0"/>
              <a:t>Самуэльсона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616624"/>
          </a:xfrm>
        </p:spPr>
        <p:txBody>
          <a:bodyPr>
            <a:normAutofit/>
          </a:bodyPr>
          <a:lstStyle/>
          <a:p>
            <a:r>
              <a:rPr lang="ru-RU" dirty="0" smtClean="0"/>
              <a:t>Предельная ценность общественного блага для индивида представляет собой его предельную готовность платить за него, которую, в свою очередь, можно выразить через количество других благ (частных благ), от которых он готов отказаться. Но последнее есть не что иное, как предельная норма замещения общественного блага частными благами. </a:t>
            </a:r>
          </a:p>
          <a:p>
            <a:r>
              <a:rPr lang="ru-RU" dirty="0" smtClean="0"/>
              <a:t>Следовательно, сумма предельных ценностей – это сумма предельных норм замещения.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40296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Условие </a:t>
            </a:r>
            <a:r>
              <a:rPr lang="ru-RU" dirty="0" err="1" smtClean="0"/>
              <a:t>Самуэльсона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457200" y="836712"/>
            <a:ext cx="8229600" cy="5616624"/>
          </a:xfrm>
        </p:spPr>
        <p:txBody>
          <a:bodyPr>
            <a:normAutofit/>
          </a:bodyPr>
          <a:lstStyle/>
          <a:p>
            <a:r>
              <a:rPr lang="ru-RU" dirty="0" smtClean="0"/>
              <a:t>Предельные издержки производства общественного блага могут быть выражены в определённом количестве частных благ, от которого приходится отказываться при переключении ресурсов с производства частных благ на производство общественного блага.  Тогда предельные издержки тождественны предельной норме трансформации. </a:t>
            </a:r>
          </a:p>
          <a:p>
            <a:r>
              <a:rPr lang="ru-RU" dirty="0" smtClean="0"/>
              <a:t>В итоге, подставив в условие частичного равновесия предельную норму замещения и предельную норму трансформации, мы получаем условие </a:t>
            </a:r>
            <a:r>
              <a:rPr lang="ru-RU" dirty="0" err="1" smtClean="0"/>
              <a:t>Самуэльсона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Общественные блага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z="3200" dirty="0" err="1" smtClean="0"/>
              <a:t>Неисключаемость</a:t>
            </a:r>
            <a:r>
              <a:rPr lang="ru-RU" sz="3200" dirty="0" smtClean="0"/>
              <a:t> общественного блага создает возможность уклонения от платы за него отдельными индивидами, что порождает </a:t>
            </a:r>
            <a:r>
              <a:rPr lang="ru-RU" sz="3200" b="1" dirty="0" smtClean="0"/>
              <a:t>проблему «безбилетников».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Критерии эффективных механизмов решения проблемы безбилетника: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общественное благо должно предоставляться в </a:t>
            </a:r>
            <a:r>
              <a:rPr lang="ru-RU" dirty="0" err="1" smtClean="0"/>
              <a:t>Парето-эффективном</a:t>
            </a:r>
            <a:r>
              <a:rPr lang="ru-RU" dirty="0" smtClean="0"/>
              <a:t> объеме;</a:t>
            </a:r>
          </a:p>
          <a:p>
            <a:r>
              <a:rPr lang="ru-RU" dirty="0" smtClean="0"/>
              <a:t>выявление истинных предпочтений должно быть в интересах самих индивидов;</a:t>
            </a:r>
          </a:p>
          <a:p>
            <a:r>
              <a:rPr lang="ru-RU" dirty="0" smtClean="0"/>
              <a:t>сбалансированность расходов на общественное благо с уровнем налоговых изъятий.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Производство общественных благ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dirty="0" smtClean="0"/>
              <a:t>С. Фишер подчеркивает, что забота государства о производстве общественных благ не исключает сотрудничества со сферой бизнеса: </a:t>
            </a:r>
          </a:p>
          <a:p>
            <a:r>
              <a:rPr lang="ru-RU" dirty="0" smtClean="0"/>
              <a:t>«государство не должно производить общественные блага; оно должно только определить, сколько должно быть произведено каждого из этих благ. Чтобы обеспечить реальное производство, оно может опираться на частных подрядчиков». </a:t>
            </a:r>
          </a:p>
          <a:p>
            <a:r>
              <a:rPr lang="ru-RU" i="1" dirty="0" smtClean="0"/>
              <a:t>Фишер С., </a:t>
            </a:r>
            <a:r>
              <a:rPr lang="ru-RU" i="1" dirty="0" err="1" smtClean="0"/>
              <a:t>Дорнбуш</a:t>
            </a:r>
            <a:r>
              <a:rPr lang="ru-RU" i="1" dirty="0" smtClean="0"/>
              <a:t> Р., </a:t>
            </a:r>
            <a:r>
              <a:rPr lang="ru-RU" i="1" dirty="0" err="1" smtClean="0"/>
              <a:t>Шмалензи</a:t>
            </a:r>
            <a:r>
              <a:rPr lang="ru-RU" i="1" dirty="0" smtClean="0"/>
              <a:t> Р.</a:t>
            </a:r>
            <a:r>
              <a:rPr lang="ru-RU" dirty="0" smtClean="0"/>
              <a:t> Экономика: пер. с англ. М.: Дело ЛТД, 1995. С. 65.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Производство общественных благ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Круг чистых общественных благ относительно не широк, но многие из них выступают в роли своеобразных ресурсов, используемых во всех отраслях экономики. В большинстве стран государство не только финансирует поставку подобных благ за счет налогов, но и непосредственно организует их создание силами своих служащих. 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Производство общественных благ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smtClean="0"/>
              <a:t>Смешанные </a:t>
            </a:r>
            <a:r>
              <a:rPr lang="ru-RU" dirty="0" smtClean="0"/>
              <a:t>общественные блага нередко производятся и поставляются на основе сотрудничества и разделения функций между государством и предпринимательским либо частным некоммерческим сектором. Это касается как источников финансирования, так и выполнения конкретных работ.</a:t>
            </a:r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Нет эффективной модели,  которая позволила бы однозначно решить проблему безбилетника, а через нее – проблему оптимального производства общественных благ и внешних эффектов.</a:t>
            </a:r>
          </a:p>
          <a:p>
            <a:r>
              <a:rPr lang="ru-RU" dirty="0" smtClean="0"/>
              <a:t>Наличие свободного волеизъявления экономических агентов не обязательно сопровождается ростом общественного благосостояния,  свободный рынок имеет свои недостатки (провалы), устранение которых – задача государства.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Выводы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ru-RU" sz="2800" dirty="0" smtClean="0"/>
              <a:t>При оценке эффективности государственного участия в экономике можно отметить, что выбор между рынком и государством — это выбор между двумя несовершенными альтернативами, и на него оказывают влияние не только объективные условия, но и субъективные предпочтения политиков, чиновников, приверженность той или иной экономической теории.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292</TotalTime>
  <Words>2563</Words>
  <Application>Microsoft Office PowerPoint</Application>
  <PresentationFormat>Экран (4:3)</PresentationFormat>
  <Paragraphs>225</Paragraphs>
  <Slides>49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49</vt:i4>
      </vt:variant>
    </vt:vector>
  </HeadingPairs>
  <TitlesOfParts>
    <vt:vector size="50" baseType="lpstr">
      <vt:lpstr>Начальная</vt:lpstr>
      <vt:lpstr>Внешние эффекты  и общественные блага</vt:lpstr>
      <vt:lpstr>Внешние эффекты</vt:lpstr>
      <vt:lpstr>Классификация внешних эффектов</vt:lpstr>
      <vt:lpstr>Слайд 4</vt:lpstr>
      <vt:lpstr>Распределение и использование  ресурсов при наличии внешних факторов</vt:lpstr>
      <vt:lpstr>Положительный и отрицательный внешний эффект и их регулирование</vt:lpstr>
      <vt:lpstr>Внешние эффекты</vt:lpstr>
      <vt:lpstr>Методы государственного воздействия  на внешние эффекты</vt:lpstr>
      <vt:lpstr>Методы государственного воздействия  на внешние эффекты</vt:lpstr>
      <vt:lpstr>Методы государственного воздействия  на внешние эффекты</vt:lpstr>
      <vt:lpstr>Общественные блага</vt:lpstr>
      <vt:lpstr>Общественные блага: понятие</vt:lpstr>
      <vt:lpstr>Общественные блага: свойства</vt:lpstr>
      <vt:lpstr>Общественные блага: виды</vt:lpstr>
      <vt:lpstr>Перечень благ, предоставляемых общественным сектором в Российской Федерации</vt:lpstr>
      <vt:lpstr>Перечень благ, предоставляемых общественным сектором в Российской Федерации</vt:lpstr>
      <vt:lpstr>Некоммерческий сектор</vt:lpstr>
      <vt:lpstr>Общественные блага</vt:lpstr>
      <vt:lpstr>Спрос на общественное благо (рис. 1)</vt:lpstr>
      <vt:lpstr>Общественные блага: виды</vt:lpstr>
      <vt:lpstr>Глобальные общественные блага</vt:lpstr>
      <vt:lpstr>Глобальные общественные блага</vt:lpstr>
      <vt:lpstr>Общественные блага: виды</vt:lpstr>
      <vt:lpstr>Общественные блага: виды</vt:lpstr>
      <vt:lpstr>Спрос на общественные блага</vt:lpstr>
      <vt:lpstr>Спрос на общественное благо</vt:lpstr>
      <vt:lpstr>Частное равновесие на рынке общественных благ</vt:lpstr>
      <vt:lpstr>Частное равновесие на рынке общественных благ (рис. 2)</vt:lpstr>
      <vt:lpstr>Общее равновесие</vt:lpstr>
      <vt:lpstr>Общее равновесие (рис. 3)</vt:lpstr>
      <vt:lpstr>Общее равновесие</vt:lpstr>
      <vt:lpstr>Модель Линдаля</vt:lpstr>
      <vt:lpstr>Модель Линдаля</vt:lpstr>
      <vt:lpstr>Равновесие Линдаля (рис. 4)</vt:lpstr>
      <vt:lpstr>Модель Линдаля (рис. 4)</vt:lpstr>
      <vt:lpstr>Модель Линдаля (рис. 4)</vt:lpstr>
      <vt:lpstr>Модель Линдаля (рис. 4)</vt:lpstr>
      <vt:lpstr>Модель Линдаля</vt:lpstr>
      <vt:lpstr>Равновесие в сфере производства общественных благ</vt:lpstr>
      <vt:lpstr>Условие Самуэльсона</vt:lpstr>
      <vt:lpstr>Условие Самуэльсона</vt:lpstr>
      <vt:lpstr>Условие Самуэльсона</vt:lpstr>
      <vt:lpstr>Общественные блага</vt:lpstr>
      <vt:lpstr>Критерии эффективных механизмов решения проблемы безбилетника:</vt:lpstr>
      <vt:lpstr>Производство общественных благ</vt:lpstr>
      <vt:lpstr>Производство общественных благ</vt:lpstr>
      <vt:lpstr>Производство общественных благ</vt:lpstr>
      <vt:lpstr>Выводы</vt:lpstr>
      <vt:lpstr>Выводы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Внешние эффекты  и общественные блага</dc:title>
  <dc:creator>user</dc:creator>
  <cp:lastModifiedBy>komarova</cp:lastModifiedBy>
  <cp:revision>37</cp:revision>
  <dcterms:created xsi:type="dcterms:W3CDTF">2015-11-14T03:40:23Z</dcterms:created>
  <dcterms:modified xsi:type="dcterms:W3CDTF">2017-09-22T07:00:24Z</dcterms:modified>
</cp:coreProperties>
</file>