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8" r:id="rId9"/>
    <p:sldId id="269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23E9-957F-4D29-ADB6-EB1DC9636162}" type="datetimeFigureOut">
              <a:rPr lang="ru-RU" smtClean="0"/>
              <a:t>26.05.2019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84FC0B-EA6D-4793-BC0A-383E79027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8348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DACC5-9855-406D-ADC2-A6580F72D309}" type="datetimeFigureOut">
              <a:rPr lang="ru-RU" smtClean="0"/>
              <a:t>26.05.2019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405AA-E819-447B-B19E-AE5FB1640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397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DACC5-9855-406D-ADC2-A6580F72D309}" type="datetimeFigureOut">
              <a:rPr lang="ru-RU" smtClean="0"/>
              <a:t>26.05.2019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405AA-E819-447B-B19E-AE5FB1640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4947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DACC5-9855-406D-ADC2-A6580F72D309}" type="datetimeFigureOut">
              <a:rPr lang="ru-RU" smtClean="0"/>
              <a:t>26.05.2019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405AA-E819-447B-B19E-AE5FB1640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0086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DACC5-9855-406D-ADC2-A6580F72D309}" type="datetimeFigureOut">
              <a:rPr lang="ru-RU" smtClean="0"/>
              <a:t>26.05.2019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405AA-E819-447B-B19E-AE5FB1640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66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DACC5-9855-406D-ADC2-A6580F72D309}" type="datetimeFigureOut">
              <a:rPr lang="ru-RU" smtClean="0"/>
              <a:t>26.05.2019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405AA-E819-447B-B19E-AE5FB1640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1401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DACC5-9855-406D-ADC2-A6580F72D309}" type="datetimeFigureOut">
              <a:rPr lang="ru-RU" smtClean="0"/>
              <a:t>26.05.2019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405AA-E819-447B-B19E-AE5FB1640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1958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DACC5-9855-406D-ADC2-A6580F72D309}" type="datetimeFigureOut">
              <a:rPr lang="ru-RU" smtClean="0"/>
              <a:t>26.05.2019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405AA-E819-447B-B19E-AE5FB1640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530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DACC5-9855-406D-ADC2-A6580F72D309}" type="datetimeFigureOut">
              <a:rPr lang="ru-RU" smtClean="0"/>
              <a:t>26.05.2019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405AA-E819-447B-B19E-AE5FB1640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3275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DACC5-9855-406D-ADC2-A6580F72D309}" type="datetimeFigureOut">
              <a:rPr lang="ru-RU" smtClean="0"/>
              <a:t>26.05.2019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405AA-E819-447B-B19E-AE5FB1640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8970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DACC5-9855-406D-ADC2-A6580F72D309}" type="datetimeFigureOut">
              <a:rPr lang="ru-RU" smtClean="0"/>
              <a:t>26.05.2019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405AA-E819-447B-B19E-AE5FB1640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11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DACC5-9855-406D-ADC2-A6580F72D309}" type="datetimeFigureOut">
              <a:rPr lang="ru-RU" smtClean="0"/>
              <a:t>26.05.2019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405AA-E819-447B-B19E-AE5FB1640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97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DACC5-9855-406D-ADC2-A6580F72D309}" type="datetimeFigureOut">
              <a:rPr lang="ru-RU" smtClean="0"/>
              <a:t>26.05.2019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05AA-E819-447B-B19E-AE5FB1640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761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«Общественные блага и проблема «безбилетника» в экономике»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411760" y="4077072"/>
            <a:ext cx="6588224" cy="2592288"/>
          </a:xfrm>
        </p:spPr>
        <p:txBody>
          <a:bodyPr>
            <a:noAutofit/>
          </a:bodyPr>
          <a:lstStyle/>
          <a:p>
            <a:pPr algn="r"/>
            <a:r>
              <a:rPr lang="ru-RU" sz="1800" b="1" dirty="0" smtClean="0"/>
              <a:t>Подготовили: </a:t>
            </a:r>
            <a:r>
              <a:rPr lang="ru-RU" sz="1800" dirty="0" smtClean="0"/>
              <a:t>Студенты 1 курса, гр. ТУ-11</a:t>
            </a:r>
          </a:p>
          <a:p>
            <a:pPr algn="r"/>
            <a:r>
              <a:rPr lang="ru-RU" sz="1800" dirty="0" smtClean="0"/>
              <a:t>Золотова Д.К., </a:t>
            </a:r>
            <a:r>
              <a:rPr lang="ru-RU" sz="1800" dirty="0" err="1" smtClean="0"/>
              <a:t>Муджикова</a:t>
            </a:r>
            <a:r>
              <a:rPr lang="ru-RU" sz="1800" dirty="0" smtClean="0"/>
              <a:t> А.П.</a:t>
            </a:r>
          </a:p>
          <a:p>
            <a:pPr algn="r"/>
            <a:r>
              <a:rPr lang="ru-RU" sz="1800" b="1" dirty="0" smtClean="0"/>
              <a:t>Проверили:</a:t>
            </a:r>
          </a:p>
          <a:p>
            <a:pPr algn="r"/>
            <a:r>
              <a:rPr lang="ru-RU" sz="1800" dirty="0" smtClean="0"/>
              <a:t>ассистент </a:t>
            </a:r>
            <a:r>
              <a:rPr lang="ru-RU" sz="1800" dirty="0" err="1" smtClean="0"/>
              <a:t>каф.эк.теории</a:t>
            </a:r>
            <a:endParaRPr lang="ru-RU" sz="1800" dirty="0" smtClean="0"/>
          </a:p>
          <a:p>
            <a:pPr algn="r"/>
            <a:r>
              <a:rPr lang="ru-RU" sz="1800" dirty="0" err="1" smtClean="0"/>
              <a:t>Захаркина</a:t>
            </a:r>
            <a:r>
              <a:rPr lang="ru-RU" sz="1800" dirty="0" smtClean="0"/>
              <a:t> Елена Алексеевна</a:t>
            </a:r>
          </a:p>
          <a:p>
            <a:pPr algn="r"/>
            <a:r>
              <a:rPr lang="ru-RU" sz="1800" dirty="0" smtClean="0"/>
              <a:t>старший преподаватель </a:t>
            </a:r>
            <a:r>
              <a:rPr lang="ru-RU" sz="1800" dirty="0" err="1" smtClean="0"/>
              <a:t>каф.эк.теории</a:t>
            </a:r>
            <a:endParaRPr lang="ru-RU" sz="1800" dirty="0" smtClean="0"/>
          </a:p>
          <a:p>
            <a:pPr algn="r"/>
            <a:r>
              <a:rPr lang="ru-RU" sz="1800" dirty="0" err="1" smtClean="0"/>
              <a:t>Чертина</a:t>
            </a:r>
            <a:r>
              <a:rPr lang="ru-RU" sz="1800" dirty="0" smtClean="0"/>
              <a:t> Инна Владимировна</a:t>
            </a: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068318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575" y="260648"/>
            <a:ext cx="8784976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 smtClean="0"/>
              <a:t>Общественные блага — это совокупность товаров и услуг, которые предоставляются населению на безвозмездной основе, за счет финансовых средств государства.</a:t>
            </a:r>
            <a:endParaRPr lang="ru-R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736607" y="1844824"/>
            <a:ext cx="7723825" cy="163449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/>
              <a:t>б</a:t>
            </a:r>
            <a:r>
              <a:rPr lang="ru-RU" dirty="0" smtClean="0"/>
              <a:t>есплатная система здравоохранения</a:t>
            </a:r>
          </a:p>
          <a:p>
            <a:r>
              <a:rPr lang="ru-RU" dirty="0"/>
              <a:t>б</a:t>
            </a:r>
            <a:r>
              <a:rPr lang="ru-RU" dirty="0" smtClean="0"/>
              <a:t>есплатная система образования</a:t>
            </a:r>
          </a:p>
          <a:p>
            <a:r>
              <a:rPr lang="ru-RU" dirty="0"/>
              <a:t>в</a:t>
            </a:r>
            <a:r>
              <a:rPr lang="ru-RU" dirty="0" smtClean="0"/>
              <a:t>нешняя и внутренняя безопасность государства</a:t>
            </a:r>
          </a:p>
          <a:p>
            <a:r>
              <a:rPr lang="ru-RU" dirty="0"/>
              <a:t>с</a:t>
            </a:r>
            <a:r>
              <a:rPr lang="ru-RU" dirty="0" smtClean="0"/>
              <a:t>оциальное обеспечение и страхование</a:t>
            </a:r>
          </a:p>
          <a:p>
            <a:r>
              <a:rPr lang="ru-RU" dirty="0" smtClean="0"/>
              <a:t>работа служб гражданской обороны, ликвидация чрезвычайных ситуаций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74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188640"/>
            <a:ext cx="7632848" cy="1692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 smtClean="0"/>
              <a:t>Особенности общественных благ: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000" dirty="0" smtClean="0"/>
              <a:t>Общественные блага неделимы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000" dirty="0" smtClean="0"/>
              <a:t>Общественные товары не исключаемы из потребления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000" dirty="0" smtClean="0"/>
              <a:t>Потребление общественных благ не предполагает соперничества между потребителями</a:t>
            </a:r>
            <a:endParaRPr lang="ru-RU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251520" y="2348879"/>
            <a:ext cx="4896544" cy="169277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 smtClean="0"/>
              <a:t>Классификация общественных благ: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000" dirty="0" smtClean="0"/>
              <a:t>Чисто общественные блага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000" dirty="0" smtClean="0"/>
              <a:t>Исключаемые общественные блага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000" dirty="0" smtClean="0"/>
              <a:t>Перегружаемые общественные блага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000" dirty="0" smtClean="0"/>
              <a:t>Ограниченные общественные блага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35542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692695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Роль государства в обеспечении общественными благами</a:t>
            </a:r>
            <a:r>
              <a:rPr lang="ru-RU" sz="3200" dirty="0" smtClean="0"/>
              <a:t/>
            </a:r>
            <a:br>
              <a:rPr lang="ru-RU" sz="3200" dirty="0" smtClean="0"/>
            </a:br>
            <a:endParaRPr lang="ru-RU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80728"/>
            <a:ext cx="2808312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23528" y="2961818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Бесплатная система здравоохранения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309" y="980728"/>
            <a:ext cx="2802707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635896" y="2961818"/>
            <a:ext cx="2658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Образование</a:t>
            </a:r>
            <a:endParaRPr lang="ru-R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75" y="4005064"/>
            <a:ext cx="3309304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10929" y="5989555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Внешняя безопасность государства</a:t>
            </a:r>
            <a:endParaRPr lang="ru-RU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3864528"/>
            <a:ext cx="3096344" cy="20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788024" y="6093296"/>
            <a:ext cx="2952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Внутренняя безопасность государства</a:t>
            </a:r>
            <a:endParaRPr lang="ru-RU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4586" y="980728"/>
            <a:ext cx="2713345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294585" y="2961818"/>
            <a:ext cx="2713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Социальное обеспечение и страхование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321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8" y="0"/>
            <a:ext cx="9142931" cy="764704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ru-RU" sz="3200" dirty="0" smtClean="0"/>
              <a:t>Проблема «безбилетника» в экономике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144016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 smtClean="0"/>
              <a:t>Проблема безбилетника заключается в том, что безбилетники занижают ценность чисто общественного блага, а это приводит к более низкому объему его производства по сравнению с эффективным объемом. Таким образом, возможность бесплатного потребления чисто общественных благ обусловливает неэффективность их производства.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2420888"/>
            <a:ext cx="4249007" cy="40934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000" b="1" dirty="0" smtClean="0"/>
              <a:t>Причины, по которым люди считают, что могут воспользоваться благом, не платя за него: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000" dirty="0" smtClean="0"/>
              <a:t>Его возможная плата за благо мала по сравнению с общей стоимостью блага. И его решение платить или не платить не повлияет на коллективное решение;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000" dirty="0" smtClean="0"/>
              <a:t>нет смысла платить, каждый надеется, что благо все равно будет произведено, если многие, но не он, заплатят.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757150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2588"/>
            <a:ext cx="9144000" cy="695284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ru-RU" sz="3200" dirty="0" smtClean="0"/>
              <a:t>Решение проблемы «безбилетника»</a:t>
            </a:r>
            <a:endParaRPr lang="ru-RU" sz="32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974" y="3645024"/>
            <a:ext cx="4494051" cy="2861320"/>
          </a:xfrm>
        </p:spPr>
      </p:pic>
      <p:sp>
        <p:nvSpPr>
          <p:cNvPr id="5" name="TextBox 4"/>
          <p:cNvSpPr txBox="1"/>
          <p:nvPr/>
        </p:nvSpPr>
        <p:spPr>
          <a:xfrm>
            <a:off x="107504" y="908720"/>
            <a:ext cx="892899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ctr"/>
            <a:r>
              <a:rPr lang="ru-RU" sz="2800" dirty="0" smtClean="0">
                <a:solidFill>
                  <a:schemeClr val="tx2">
                    <a:lumMod val="75000"/>
                  </a:schemeClr>
                </a:solidFill>
              </a:rPr>
              <a:t>Модель </a:t>
            </a:r>
            <a:r>
              <a:rPr lang="ru-RU" sz="2800" dirty="0" err="1" smtClean="0">
                <a:solidFill>
                  <a:schemeClr val="tx2">
                    <a:lumMod val="75000"/>
                  </a:schemeClr>
                </a:solidFill>
              </a:rPr>
              <a:t>Линдаля</a:t>
            </a:r>
            <a:endParaRPr lang="ru-RU" sz="2800" dirty="0" smtClean="0">
              <a:solidFill>
                <a:schemeClr val="tx2">
                  <a:lumMod val="75000"/>
                </a:schemeClr>
              </a:solidFill>
            </a:endParaRPr>
          </a:p>
          <a:p>
            <a:pPr indent="180000" algn="just">
              <a:spcBef>
                <a:spcPts val="1200"/>
              </a:spcBef>
            </a:pPr>
            <a:r>
              <a:rPr lang="ru-RU" sz="2000" dirty="0" smtClean="0"/>
              <a:t>В модели </a:t>
            </a:r>
            <a:r>
              <a:rPr lang="ru-RU" sz="2000" dirty="0" err="1" smtClean="0"/>
              <a:t>Линдаля</a:t>
            </a:r>
            <a:r>
              <a:rPr lang="ru-RU" sz="2000" dirty="0" smtClean="0"/>
              <a:t> индивиды договариваются о расходах на предоставление общественного блага и о доле каждого в этих расходах. В условиях равновесия (его в свою очередь называют равновесием по </a:t>
            </a:r>
            <a:r>
              <a:rPr lang="ru-RU" sz="2000" dirty="0" err="1" smtClean="0"/>
              <a:t>Линдалю</a:t>
            </a:r>
            <a:r>
              <a:rPr lang="ru-RU" sz="2000" dirty="0" smtClean="0"/>
              <a:t>) цены устанавливаются на таких уровнях, что все индивиды предъявляют спрос на одно и то же количество общественного блага, которое и является оптимальным объемом его предоставления.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858264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ru-RU" sz="3200" dirty="0" smtClean="0"/>
              <a:t>Решение проблемы «безбилетника»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980729"/>
            <a:ext cx="8784976" cy="2232248"/>
          </a:xfrm>
        </p:spPr>
        <p:txBody>
          <a:bodyPr/>
          <a:lstStyle/>
          <a:p>
            <a:pPr marL="0" indent="0" algn="ctr">
              <a:buNone/>
            </a:pPr>
            <a:r>
              <a:rPr lang="ru-RU" sz="2800" dirty="0" smtClean="0"/>
              <a:t>Налог Кларка</a:t>
            </a:r>
          </a:p>
          <a:p>
            <a:pPr marL="0" indent="0">
              <a:buNone/>
            </a:pPr>
            <a:r>
              <a:rPr lang="ru-RU" sz="2000" dirty="0" smtClean="0"/>
              <a:t>Налог Кларка представляет собой попытку построения механизма, делающего «заячье» поведение невыгодным и заставляющий индивидов выявлять истинные предложения. </a:t>
            </a:r>
            <a:endParaRPr lang="ru-RU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636912"/>
            <a:ext cx="6611888" cy="3719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525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666" y="0"/>
            <a:ext cx="9145666" cy="692696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ru-RU" sz="3200" dirty="0" smtClean="0"/>
              <a:t>Решение проблемы «безбилетника»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908721"/>
            <a:ext cx="8856984" cy="2304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 smtClean="0"/>
              <a:t>Другие способы решения проблемы безбилетника: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400" dirty="0" smtClean="0"/>
              <a:t>Избирательные стимулы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400" dirty="0" smtClean="0"/>
              <a:t>Самостоятельное производство блага тем членам группы, которые заинтересованы в нём больше всех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400" dirty="0" smtClean="0"/>
              <a:t>Социальный капитал</a:t>
            </a:r>
            <a:endParaRPr lang="ru-RU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2770553"/>
            <a:ext cx="5646954" cy="374441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6564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2492896"/>
            <a:ext cx="8229600" cy="1143000"/>
          </a:xfrm>
        </p:spPr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23785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377</Words>
  <Application>Microsoft Office PowerPoint</Application>
  <PresentationFormat>Экран (4:3)</PresentationFormat>
  <Paragraphs>46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«Общественные блага и проблема «безбилетника» в экономике»</vt:lpstr>
      <vt:lpstr>Презентация PowerPoint</vt:lpstr>
      <vt:lpstr>Презентация PowerPoint</vt:lpstr>
      <vt:lpstr> Роль государства в обеспечении общественными благами </vt:lpstr>
      <vt:lpstr>Проблема «безбилетника» в экономике</vt:lpstr>
      <vt:lpstr>Решение проблемы «безбилетника»</vt:lpstr>
      <vt:lpstr>Решение проблемы «безбилетника»</vt:lpstr>
      <vt:lpstr>Решение проблемы «безбилетника»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«Общественные блага и проблема «безбилетника» в экономике»</dc:title>
  <dc:creator>Даша</dc:creator>
  <cp:lastModifiedBy>Даша</cp:lastModifiedBy>
  <cp:revision>8</cp:revision>
  <dcterms:created xsi:type="dcterms:W3CDTF">2019-05-26T05:53:46Z</dcterms:created>
  <dcterms:modified xsi:type="dcterms:W3CDTF">2019-05-26T07:19:45Z</dcterms:modified>
</cp:coreProperties>
</file>